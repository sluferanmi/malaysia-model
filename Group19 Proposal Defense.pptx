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824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B3A5C"/>
          </a:solidFill>
          <a:ln w="12700">
            <a:solidFill>
              <a:srgbClr val="1B3A5C"/>
            </a:solidFill>
            <a:prstDash val="solid"/>
          </a:ln>
        </p:spPr>
      </p:sp>
      <p:sp>
        <p:nvSpPr>
          <p:cNvPr id="3" name="Shape 1"/>
          <p:cNvSpPr/>
          <p:nvPr/>
        </p:nvSpPr>
        <p:spPr>
          <a:xfrm>
            <a:off x="0" y="1051560"/>
            <a:ext cx="9144000" cy="64008"/>
          </a:xfrm>
          <a:prstGeom prst="rect">
            <a:avLst/>
          </a:prstGeom>
          <a:solidFill>
            <a:srgbClr val="E8A020"/>
          </a:solidFill>
          <a:ln w="12700">
            <a:solidFill>
              <a:srgbClr val="E8A020"/>
            </a:solidFill>
            <a:prstDash val="solid"/>
          </a:ln>
        </p:spPr>
      </p:sp>
      <p:sp>
        <p:nvSpPr>
          <p:cNvPr id="4" name="Text 2"/>
          <p:cNvSpPr/>
          <p:nvPr/>
        </p:nvSpPr>
        <p:spPr>
          <a:xfrm>
            <a:off x="365760" y="73152"/>
            <a:ext cx="8412480" cy="41148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KWARA STATE UNIVERSITY, MALETE</a:t>
            </a:r>
            <a:endParaRPr lang="en-US" sz="1300" dirty="0"/>
          </a:p>
        </p:txBody>
      </p:sp>
      <p:sp>
        <p:nvSpPr>
          <p:cNvPr id="5" name="Text 3"/>
          <p:cNvSpPr/>
          <p:nvPr/>
        </p:nvSpPr>
        <p:spPr>
          <a:xfrm>
            <a:off x="365760" y="502920"/>
            <a:ext cx="8412480" cy="347472"/>
          </a:xfrm>
          <a:prstGeom prst="rect">
            <a:avLst/>
          </a:prstGeom>
          <a:noFill/>
          <a:ln/>
        </p:spPr>
        <p:txBody>
          <a:bodyPr wrap="square" rtlCol="0" anchor="ctr"/>
          <a:lstStyle/>
          <a:p>
            <a:pPr marL="0" indent="0" algn="ctr">
              <a:buNone/>
            </a:pPr>
            <a:r>
              <a:rPr lang="en-US" sz="1100" dirty="0">
                <a:solidFill>
                  <a:srgbClr val="C9D6E3"/>
                </a:solidFill>
                <a:latin typeface="Calibri" pitchFamily="34" charset="0"/>
                <a:ea typeface="Calibri" pitchFamily="34" charset="-122"/>
                <a:cs typeface="Calibri" pitchFamily="34" charset="-120"/>
              </a:rPr>
              <a:t>Faculty of Information &amp; Communication Technology  ·  Department of Computer Science</a:t>
            </a:r>
            <a:endParaRPr lang="en-US" sz="1100" dirty="0"/>
          </a:p>
        </p:txBody>
      </p:sp>
      <p:sp>
        <p:nvSpPr>
          <p:cNvPr id="6" name="Text 4"/>
          <p:cNvSpPr/>
          <p:nvPr/>
        </p:nvSpPr>
        <p:spPr>
          <a:xfrm>
            <a:off x="548640" y="1188720"/>
            <a:ext cx="8046720" cy="20116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A Machine Learning Model to Predict the</a:t>
            </a:r>
            <a:endParaRPr lang="en-US" sz="3000" dirty="0"/>
          </a:p>
          <a:p>
            <a:pPr marL="0" indent="0" algn="ctr">
              <a:buNone/>
            </a:pPr>
            <a:r>
              <a:rPr lang="en-US" sz="3000" b="1" dirty="0">
                <a:solidFill>
                  <a:srgbClr val="FFFFFF"/>
                </a:solidFill>
                <a:latin typeface="Cambria" pitchFamily="34" charset="0"/>
                <a:ea typeface="Cambria" pitchFamily="34" charset="-122"/>
                <a:cs typeface="Cambria" pitchFamily="34" charset="-120"/>
              </a:rPr>
              <a:t>Optimum Harvest Time for Crops to</a:t>
            </a:r>
            <a:endParaRPr lang="en-US" sz="3000" dirty="0"/>
          </a:p>
          <a:p>
            <a:pPr marL="0" indent="0" algn="ctr">
              <a:buNone/>
            </a:pPr>
            <a:r>
              <a:rPr lang="en-US" sz="3000" b="1" dirty="0">
                <a:solidFill>
                  <a:srgbClr val="FFFFFF"/>
                </a:solidFill>
                <a:latin typeface="Cambria" pitchFamily="34" charset="0"/>
                <a:ea typeface="Cambria" pitchFamily="34" charset="-122"/>
                <a:cs typeface="Cambria" pitchFamily="34" charset="-120"/>
              </a:rPr>
              <a:t>Maximize Yields and Quality</a:t>
            </a:r>
            <a:endParaRPr lang="en-US" sz="3000" dirty="0"/>
          </a:p>
        </p:txBody>
      </p:sp>
      <p:sp>
        <p:nvSpPr>
          <p:cNvPr id="7" name="Text 5"/>
          <p:cNvSpPr/>
          <p:nvPr/>
        </p:nvSpPr>
        <p:spPr>
          <a:xfrm>
            <a:off x="548640" y="3218688"/>
            <a:ext cx="8046720" cy="320040"/>
          </a:xfrm>
          <a:prstGeom prst="rect">
            <a:avLst/>
          </a:prstGeom>
          <a:noFill/>
          <a:ln/>
        </p:spPr>
        <p:txBody>
          <a:bodyPr wrap="square" rtlCol="0" anchor="ctr"/>
          <a:lstStyle/>
          <a:p>
            <a:pPr marL="0" indent="0" algn="ctr">
              <a:buNone/>
            </a:pPr>
            <a:r>
              <a:rPr lang="en-US" sz="1200" dirty="0">
                <a:solidFill>
                  <a:srgbClr val="E8A020"/>
                </a:solidFill>
                <a:latin typeface="Calibri" pitchFamily="34" charset="0"/>
                <a:ea typeface="Calibri" pitchFamily="34" charset="-122"/>
                <a:cs typeface="Calibri" pitchFamily="34" charset="-120"/>
              </a:rPr>
              <a:t>Using Linear Regression  ·  Group 19  ·  Project Proposal Defense</a:t>
            </a:r>
            <a:endParaRPr lang="en-US" sz="1200" dirty="0"/>
          </a:p>
        </p:txBody>
      </p:sp>
      <p:sp>
        <p:nvSpPr>
          <p:cNvPr id="8" name="Shape 6"/>
          <p:cNvSpPr/>
          <p:nvPr/>
        </p:nvSpPr>
        <p:spPr>
          <a:xfrm>
            <a:off x="384048" y="3611880"/>
            <a:ext cx="8394192" cy="964692"/>
          </a:xfrm>
          <a:prstGeom prst="rect">
            <a:avLst/>
          </a:prstGeom>
          <a:solidFill>
            <a:srgbClr val="1B3A5C"/>
          </a:solidFill>
          <a:ln w="19050">
            <a:solidFill>
              <a:srgbClr val="E8A020"/>
            </a:solidFill>
            <a:prstDash val="solid"/>
          </a:ln>
        </p:spPr>
      </p:sp>
      <p:sp>
        <p:nvSpPr>
          <p:cNvPr id="9" name="Shape 7"/>
          <p:cNvSpPr/>
          <p:nvPr/>
        </p:nvSpPr>
        <p:spPr>
          <a:xfrm>
            <a:off x="384048" y="3611880"/>
            <a:ext cx="118872" cy="964692"/>
          </a:xfrm>
          <a:prstGeom prst="rect">
            <a:avLst/>
          </a:prstGeom>
          <a:solidFill>
            <a:srgbClr val="E8A020"/>
          </a:solidFill>
          <a:ln w="12700">
            <a:solidFill>
              <a:srgbClr val="E8A020"/>
            </a:solidFill>
            <a:prstDash val="solid"/>
          </a:ln>
        </p:spPr>
      </p:sp>
      <p:sp>
        <p:nvSpPr>
          <p:cNvPr id="10" name="Text 8"/>
          <p:cNvSpPr/>
          <p:nvPr/>
        </p:nvSpPr>
        <p:spPr>
          <a:xfrm>
            <a:off x="594360" y="3675888"/>
            <a:ext cx="4069080" cy="128016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1. Ifeoluwa Emmanuel Amusan  —  23D/47XC/461</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2. Sodiq Olamilekan Babatunde  —  23D/47CS/3343</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3. John T Erungwer Zaki  —  22/47CS/2723</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4. Ibrahim Ajadi Inaolaji  —  22/47CS/2155</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5. Rokeeb Olawale Ishola  —  22/47CS/2095</a:t>
            </a:r>
            <a:endParaRPr lang="en-US" sz="1100" dirty="0"/>
          </a:p>
        </p:txBody>
      </p:sp>
      <p:sp>
        <p:nvSpPr>
          <p:cNvPr id="11" name="Text 9"/>
          <p:cNvSpPr/>
          <p:nvPr/>
        </p:nvSpPr>
        <p:spPr>
          <a:xfrm>
            <a:off x="4846320" y="3700272"/>
            <a:ext cx="4335780" cy="987552"/>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6. Sodiq Damilare Tanimowo  —  22/47CS/2065</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7. Emmanuel Oluwafikayomi Abolaji  —  22/47CS/2355</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8. Kamaldeen Aduagba Shamsudeen  —  22/47CS/2196</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9. Sodiq Amoo Adams  —  22/47CS/2096</a:t>
            </a:r>
            <a:endParaRPr lang="en-US" sz="1200" dirty="0"/>
          </a:p>
        </p:txBody>
      </p:sp>
      <p:sp>
        <p:nvSpPr>
          <p:cNvPr id="13" name="TextBox 12">
            <a:extLst>
              <a:ext uri="{FF2B5EF4-FFF2-40B4-BE49-F238E27FC236}">
                <a16:creationId xmlns:a16="http://schemas.microsoft.com/office/drawing/2014/main" id="{584B669C-C2EA-4B7A-95A5-6BDFAF6D5673}"/>
              </a:ext>
            </a:extLst>
          </p:cNvPr>
          <p:cNvSpPr txBox="1"/>
          <p:nvPr/>
        </p:nvSpPr>
        <p:spPr>
          <a:xfrm>
            <a:off x="259080" y="4633960"/>
            <a:ext cx="4579620" cy="369332"/>
          </a:xfrm>
          <a:prstGeom prst="rect">
            <a:avLst/>
          </a:prstGeom>
          <a:noFill/>
        </p:spPr>
        <p:txBody>
          <a:bodyPr wrap="square">
            <a:spAutoFit/>
          </a:bodyPr>
          <a:lstStyle/>
          <a:p>
            <a:pPr marL="0" indent="0">
              <a:buNone/>
            </a:pPr>
            <a:r>
              <a:rPr lang="en-US" sz="1800" dirty="0">
                <a:solidFill>
                  <a:srgbClr val="FFFFFF"/>
                </a:solidFill>
                <a:latin typeface="Calibri" pitchFamily="34" charset="0"/>
                <a:ea typeface="Calibri" pitchFamily="34" charset="-122"/>
                <a:cs typeface="Calibri" pitchFamily="34" charset="-120"/>
              </a:rPr>
              <a:t>Supervisor: Dr. (Mrs.) R.S Babatunde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Introduction</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914400"/>
            <a:ext cx="2651760" cy="1234440"/>
          </a:xfrm>
          <a:prstGeom prst="rect">
            <a:avLst/>
          </a:prstGeom>
          <a:solidFill>
            <a:srgbClr val="1B3A5C"/>
          </a:solidFill>
          <a:ln w="12700">
            <a:solidFill>
              <a:srgbClr val="1B3A5C"/>
            </a:solidFill>
            <a:prstDash val="solid"/>
          </a:ln>
        </p:spPr>
      </p:sp>
      <p:sp>
        <p:nvSpPr>
          <p:cNvPr id="7" name="Text 5"/>
          <p:cNvSpPr/>
          <p:nvPr/>
        </p:nvSpPr>
        <p:spPr>
          <a:xfrm>
            <a:off x="384048" y="960120"/>
            <a:ext cx="2651760" cy="59436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800M+</a:t>
            </a:r>
            <a:endParaRPr lang="en-US" sz="2400" dirty="0"/>
          </a:p>
        </p:txBody>
      </p:sp>
      <p:sp>
        <p:nvSpPr>
          <p:cNvPr id="8" name="Text 6"/>
          <p:cNvSpPr/>
          <p:nvPr/>
        </p:nvSpPr>
        <p:spPr>
          <a:xfrm>
            <a:off x="384048" y="1581912"/>
            <a:ext cx="2651760" cy="50292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People face food insecurity</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globally (pre-COVID)</a:t>
            </a:r>
            <a:endParaRPr lang="en-US" sz="1050" dirty="0"/>
          </a:p>
        </p:txBody>
      </p:sp>
      <p:sp>
        <p:nvSpPr>
          <p:cNvPr id="9" name="Shape 7"/>
          <p:cNvSpPr/>
          <p:nvPr/>
        </p:nvSpPr>
        <p:spPr>
          <a:xfrm>
            <a:off x="3236976" y="914400"/>
            <a:ext cx="2651760" cy="1234440"/>
          </a:xfrm>
          <a:prstGeom prst="rect">
            <a:avLst/>
          </a:prstGeom>
          <a:solidFill>
            <a:srgbClr val="E8A020"/>
          </a:solidFill>
          <a:ln w="12700">
            <a:solidFill>
              <a:srgbClr val="E8A020"/>
            </a:solidFill>
            <a:prstDash val="solid"/>
          </a:ln>
        </p:spPr>
      </p:sp>
      <p:sp>
        <p:nvSpPr>
          <p:cNvPr id="10" name="Text 8"/>
          <p:cNvSpPr/>
          <p:nvPr/>
        </p:nvSpPr>
        <p:spPr>
          <a:xfrm>
            <a:off x="3236976" y="960120"/>
            <a:ext cx="2651760" cy="594360"/>
          </a:xfrm>
          <a:prstGeom prst="rect">
            <a:avLst/>
          </a:prstGeom>
          <a:noFill/>
          <a:ln/>
        </p:spPr>
        <p:txBody>
          <a:bodyPr wrap="square" rtlCol="0" anchor="ctr"/>
          <a:lstStyle/>
          <a:p>
            <a:pPr marL="0" indent="0" algn="ctr">
              <a:buNone/>
            </a:pPr>
            <a:r>
              <a:rPr lang="en-US" sz="2400" b="1" dirty="0">
                <a:solidFill>
                  <a:srgbClr val="0D1B2A"/>
                </a:solidFill>
                <a:latin typeface="Cambria" pitchFamily="34" charset="0"/>
                <a:ea typeface="Cambria" pitchFamily="34" charset="-122"/>
                <a:cs typeface="Cambria" pitchFamily="34" charset="-120"/>
              </a:rPr>
              <a:t>30–40%</a:t>
            </a:r>
            <a:endParaRPr lang="en-US" sz="2400" dirty="0"/>
          </a:p>
        </p:txBody>
      </p:sp>
      <p:sp>
        <p:nvSpPr>
          <p:cNvPr id="11" name="Text 9"/>
          <p:cNvSpPr/>
          <p:nvPr/>
        </p:nvSpPr>
        <p:spPr>
          <a:xfrm>
            <a:off x="3236976" y="1581912"/>
            <a:ext cx="2651760" cy="502920"/>
          </a:xfrm>
          <a:prstGeom prst="rect">
            <a:avLst/>
          </a:prstGeom>
          <a:noFill/>
          <a:ln/>
        </p:spPr>
        <p:txBody>
          <a:bodyPr wrap="square" rtlCol="0" anchor="ctr"/>
          <a:lstStyle/>
          <a:p>
            <a:pPr marL="0" indent="0" algn="ctr">
              <a:buNone/>
            </a:pPr>
            <a:r>
              <a:rPr lang="en-US" sz="1050" dirty="0">
                <a:solidFill>
                  <a:srgbClr val="0D1B2A"/>
                </a:solidFill>
                <a:latin typeface="Calibri" pitchFamily="34" charset="0"/>
                <a:ea typeface="Calibri" pitchFamily="34" charset="-122"/>
                <a:cs typeface="Calibri" pitchFamily="34" charset="-120"/>
              </a:rPr>
              <a:t>Global crop losses due to</a:t>
            </a:r>
            <a:endParaRPr lang="en-US" sz="1050" dirty="0"/>
          </a:p>
          <a:p>
            <a:pPr marL="0" indent="0" algn="ctr">
              <a:buNone/>
            </a:pPr>
            <a:r>
              <a:rPr lang="en-US" sz="1050" dirty="0">
                <a:solidFill>
                  <a:srgbClr val="0D1B2A"/>
                </a:solidFill>
                <a:latin typeface="Calibri" pitchFamily="34" charset="0"/>
                <a:ea typeface="Calibri" pitchFamily="34" charset="-122"/>
                <a:cs typeface="Calibri" pitchFamily="34" charset="-120"/>
              </a:rPr>
              <a:t>poor harvest timing</a:t>
            </a:r>
            <a:endParaRPr lang="en-US" sz="1050" dirty="0"/>
          </a:p>
        </p:txBody>
      </p:sp>
      <p:sp>
        <p:nvSpPr>
          <p:cNvPr id="12" name="Shape 10"/>
          <p:cNvSpPr/>
          <p:nvPr/>
        </p:nvSpPr>
        <p:spPr>
          <a:xfrm>
            <a:off x="6089904" y="914400"/>
            <a:ext cx="2651760" cy="1234440"/>
          </a:xfrm>
          <a:prstGeom prst="rect">
            <a:avLst/>
          </a:prstGeom>
          <a:solidFill>
            <a:srgbClr val="D4691E"/>
          </a:solidFill>
          <a:ln w="12700">
            <a:solidFill>
              <a:srgbClr val="D4691E"/>
            </a:solidFill>
            <a:prstDash val="solid"/>
          </a:ln>
        </p:spPr>
      </p:sp>
      <p:sp>
        <p:nvSpPr>
          <p:cNvPr id="13" name="Text 11"/>
          <p:cNvSpPr/>
          <p:nvPr/>
        </p:nvSpPr>
        <p:spPr>
          <a:xfrm>
            <a:off x="6089904" y="960120"/>
            <a:ext cx="2651760" cy="59436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2.3%</a:t>
            </a:r>
            <a:endParaRPr lang="en-US" sz="2400" dirty="0"/>
          </a:p>
        </p:txBody>
      </p:sp>
      <p:sp>
        <p:nvSpPr>
          <p:cNvPr id="14" name="Text 12"/>
          <p:cNvSpPr/>
          <p:nvPr/>
        </p:nvSpPr>
        <p:spPr>
          <a:xfrm>
            <a:off x="6089904" y="1581912"/>
            <a:ext cx="2651760" cy="50292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Agriculture's GDP share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despite critical role</a:t>
            </a:r>
            <a:endParaRPr lang="en-US" sz="1050" dirty="0"/>
          </a:p>
        </p:txBody>
      </p:sp>
      <p:sp>
        <p:nvSpPr>
          <p:cNvPr id="15" name="Shape 13"/>
          <p:cNvSpPr/>
          <p:nvPr/>
        </p:nvSpPr>
        <p:spPr>
          <a:xfrm>
            <a:off x="384048" y="2286000"/>
            <a:ext cx="8412480" cy="260604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6" name="Shape 14"/>
          <p:cNvSpPr/>
          <p:nvPr/>
        </p:nvSpPr>
        <p:spPr>
          <a:xfrm>
            <a:off x="384048" y="2286000"/>
            <a:ext cx="118872" cy="2606040"/>
          </a:xfrm>
          <a:prstGeom prst="rect">
            <a:avLst/>
          </a:prstGeom>
          <a:solidFill>
            <a:srgbClr val="1B3A5C"/>
          </a:solidFill>
          <a:ln w="12700">
            <a:solidFill>
              <a:srgbClr val="1B3A5C"/>
            </a:solidFill>
            <a:prstDash val="solid"/>
          </a:ln>
        </p:spPr>
      </p:sp>
      <p:sp>
        <p:nvSpPr>
          <p:cNvPr id="17" name="Text 15"/>
          <p:cNvSpPr/>
          <p:nvPr/>
        </p:nvSpPr>
        <p:spPr>
          <a:xfrm>
            <a:off x="621792" y="2377440"/>
            <a:ext cx="8046720" cy="2423160"/>
          </a:xfrm>
          <a:prstGeom prst="rect">
            <a:avLst/>
          </a:prstGeom>
          <a:noFill/>
          <a:ln/>
        </p:spPr>
        <p:txBody>
          <a:bodyPr wrap="square" rtlCol="0" anchor="t"/>
          <a:lstStyle/>
          <a:p>
            <a:pPr marL="0" indent="0">
              <a:spcAft>
                <a:spcPts val="600"/>
              </a:spcAft>
              <a:buNone/>
            </a:pPr>
            <a:r>
              <a:rPr lang="en-US" sz="1200" dirty="0">
                <a:solidFill>
                  <a:srgbClr val="1A2B3C"/>
                </a:solidFill>
                <a:latin typeface="Calibri" pitchFamily="34" charset="0"/>
                <a:ea typeface="Calibri" pitchFamily="34" charset="-122"/>
                <a:cs typeface="Calibri" pitchFamily="34" charset="-120"/>
              </a:rPr>
              <a:t>Agriculture remains one of the most critical sectors of the global economy, yet it is plagued by significant inefficiencies, particularly in the area of harvest timing. Harvesting crops too early or too late leads to massive yield losses, reduced quality, and economic setbacks for farmers.</a:t>
            </a:r>
            <a:endParaRPr lang="en-US" sz="1200" dirty="0"/>
          </a:p>
          <a:p>
            <a:pPr marL="0" indent="0">
              <a:spcAft>
                <a:spcPts val="600"/>
              </a:spcAft>
              <a:buNone/>
            </a:pPr>
            <a:endParaRPr lang="en-US" sz="1200" dirty="0"/>
          </a:p>
          <a:p>
            <a:pPr marL="0" indent="0">
              <a:spcAft>
                <a:spcPts val="600"/>
              </a:spcAft>
              <a:buNone/>
            </a:pPr>
            <a:r>
              <a:rPr lang="en-US" sz="1200" dirty="0">
                <a:solidFill>
                  <a:srgbClr val="1A2B3C"/>
                </a:solidFill>
                <a:latin typeface="Calibri" pitchFamily="34" charset="0"/>
                <a:ea typeface="Calibri" pitchFamily="34" charset="-122"/>
                <a:cs typeface="Calibri" pitchFamily="34" charset="-120"/>
              </a:rPr>
              <a:t>Malaysia's GDP fell 5.6% in 2020, with the agricultural sector contributing only 7.4% of GDP despite its importance. Globally, food deficiency affects over 820 million people, a crisis worsened by COVID-19 job losses and supply chain disruptions.</a:t>
            </a:r>
            <a:endParaRPr lang="en-US" sz="1200" dirty="0"/>
          </a:p>
          <a:p>
            <a:pPr marL="0" indent="0">
              <a:spcAft>
                <a:spcPts val="600"/>
              </a:spcAft>
              <a:buNone/>
            </a:pPr>
            <a:endParaRPr lang="en-US" sz="1200" dirty="0"/>
          </a:p>
          <a:p>
            <a:pPr marL="0" indent="0">
              <a:spcAft>
                <a:spcPts val="600"/>
              </a:spcAft>
              <a:buNone/>
            </a:pPr>
            <a:r>
              <a:rPr lang="en-US" sz="1200" dirty="0">
                <a:solidFill>
                  <a:srgbClr val="1A2B3C"/>
                </a:solidFill>
                <a:latin typeface="Calibri" pitchFamily="34" charset="0"/>
                <a:ea typeface="Calibri" pitchFamily="34" charset="-122"/>
                <a:cs typeface="Calibri" pitchFamily="34" charset="-120"/>
              </a:rPr>
              <a:t>Crop production is influenced by complex factors including planted area, irrigation, temperature, pest pressure, and soil conditions. Traditional methods of determining harvest time rely on farmer experience and observation, which are often inaccurate and inconsistent. There is a clear need for a data-driven, machine learning approach to predict optimum harvest time and maximize both yield and quality.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Statement of the Problem</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960120"/>
            <a:ext cx="4114800" cy="169164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7" name="Shape 5"/>
          <p:cNvSpPr/>
          <p:nvPr/>
        </p:nvSpPr>
        <p:spPr>
          <a:xfrm>
            <a:off x="384048" y="960120"/>
            <a:ext cx="4114800" cy="365760"/>
          </a:xfrm>
          <a:prstGeom prst="rect">
            <a:avLst/>
          </a:prstGeom>
          <a:solidFill>
            <a:srgbClr val="1B3A5C"/>
          </a:solidFill>
          <a:ln w="12700">
            <a:solidFill>
              <a:srgbClr val="1B3A5C"/>
            </a:solidFill>
            <a:prstDash val="solid"/>
          </a:ln>
        </p:spPr>
      </p:sp>
      <p:sp>
        <p:nvSpPr>
          <p:cNvPr id="8" name="Shape 6"/>
          <p:cNvSpPr/>
          <p:nvPr/>
        </p:nvSpPr>
        <p:spPr>
          <a:xfrm>
            <a:off x="384048" y="1325880"/>
            <a:ext cx="118872" cy="1325880"/>
          </a:xfrm>
          <a:prstGeom prst="rect">
            <a:avLst/>
          </a:prstGeom>
          <a:solidFill>
            <a:srgbClr val="E8A020"/>
          </a:solidFill>
          <a:ln w="12700">
            <a:solidFill>
              <a:srgbClr val="E8A020"/>
            </a:solidFill>
            <a:prstDash val="solid"/>
          </a:ln>
        </p:spPr>
      </p:sp>
      <p:sp>
        <p:nvSpPr>
          <p:cNvPr id="9" name="Text 7"/>
          <p:cNvSpPr/>
          <p:nvPr/>
        </p:nvSpPr>
        <p:spPr>
          <a:xfrm>
            <a:off x="521208" y="960120"/>
            <a:ext cx="393192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Harvest Timing Inaccuracy</a:t>
            </a:r>
            <a:endParaRPr lang="en-US" sz="1250" dirty="0"/>
          </a:p>
        </p:txBody>
      </p:sp>
      <p:sp>
        <p:nvSpPr>
          <p:cNvPr id="10" name="Text 8"/>
          <p:cNvSpPr/>
          <p:nvPr/>
        </p:nvSpPr>
        <p:spPr>
          <a:xfrm>
            <a:off x="621792" y="1417320"/>
            <a:ext cx="3749040" cy="114300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Farmers currently rely on observation and tradition to decide harvest time. This results in premature or delayed harvests, reducing crop yield and quality significantly.</a:t>
            </a:r>
            <a:endParaRPr lang="en-US" sz="1200" dirty="0"/>
          </a:p>
        </p:txBody>
      </p:sp>
      <p:sp>
        <p:nvSpPr>
          <p:cNvPr id="11" name="Shape 9"/>
          <p:cNvSpPr/>
          <p:nvPr/>
        </p:nvSpPr>
        <p:spPr>
          <a:xfrm>
            <a:off x="4773168" y="960120"/>
            <a:ext cx="4114800" cy="169164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2" name="Shape 10"/>
          <p:cNvSpPr/>
          <p:nvPr/>
        </p:nvSpPr>
        <p:spPr>
          <a:xfrm>
            <a:off x="4773168" y="960120"/>
            <a:ext cx="4114800" cy="365760"/>
          </a:xfrm>
          <a:prstGeom prst="rect">
            <a:avLst/>
          </a:prstGeom>
          <a:solidFill>
            <a:srgbClr val="1B3A5C"/>
          </a:solidFill>
          <a:ln w="12700">
            <a:solidFill>
              <a:srgbClr val="1B3A5C"/>
            </a:solidFill>
            <a:prstDash val="solid"/>
          </a:ln>
        </p:spPr>
      </p:sp>
      <p:sp>
        <p:nvSpPr>
          <p:cNvPr id="13" name="Shape 11"/>
          <p:cNvSpPr/>
          <p:nvPr/>
        </p:nvSpPr>
        <p:spPr>
          <a:xfrm>
            <a:off x="4773168" y="1325880"/>
            <a:ext cx="118872" cy="1325880"/>
          </a:xfrm>
          <a:prstGeom prst="rect">
            <a:avLst/>
          </a:prstGeom>
          <a:solidFill>
            <a:srgbClr val="E8A020"/>
          </a:solidFill>
          <a:ln w="12700">
            <a:solidFill>
              <a:srgbClr val="E8A020"/>
            </a:solidFill>
            <a:prstDash val="solid"/>
          </a:ln>
        </p:spPr>
      </p:sp>
      <p:sp>
        <p:nvSpPr>
          <p:cNvPr id="14" name="Text 12"/>
          <p:cNvSpPr/>
          <p:nvPr/>
        </p:nvSpPr>
        <p:spPr>
          <a:xfrm>
            <a:off x="4910328" y="960120"/>
            <a:ext cx="393192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Crop Losses &amp; Food Waste</a:t>
            </a:r>
            <a:endParaRPr lang="en-US" sz="1250" dirty="0"/>
          </a:p>
        </p:txBody>
      </p:sp>
      <p:sp>
        <p:nvSpPr>
          <p:cNvPr id="15" name="Text 13"/>
          <p:cNvSpPr/>
          <p:nvPr/>
        </p:nvSpPr>
        <p:spPr>
          <a:xfrm>
            <a:off x="5010912" y="1417320"/>
            <a:ext cx="3749040" cy="114300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Poor harvest timing contributes to 30–40% of global crop losses. In Nigeria and across Africa, post-harvest losses further worsen food security and economic outcomes for smallholder farmers.</a:t>
            </a:r>
            <a:endParaRPr lang="en-US" sz="1200" dirty="0"/>
          </a:p>
        </p:txBody>
      </p:sp>
      <p:sp>
        <p:nvSpPr>
          <p:cNvPr id="16" name="Shape 14"/>
          <p:cNvSpPr/>
          <p:nvPr/>
        </p:nvSpPr>
        <p:spPr>
          <a:xfrm>
            <a:off x="384048" y="2880360"/>
            <a:ext cx="4114800" cy="169164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7" name="Shape 15"/>
          <p:cNvSpPr/>
          <p:nvPr/>
        </p:nvSpPr>
        <p:spPr>
          <a:xfrm>
            <a:off x="384048" y="2880360"/>
            <a:ext cx="4114800" cy="365760"/>
          </a:xfrm>
          <a:prstGeom prst="rect">
            <a:avLst/>
          </a:prstGeom>
          <a:solidFill>
            <a:srgbClr val="1B3A5C"/>
          </a:solidFill>
          <a:ln w="12700">
            <a:solidFill>
              <a:srgbClr val="1B3A5C"/>
            </a:solidFill>
            <a:prstDash val="solid"/>
          </a:ln>
        </p:spPr>
      </p:sp>
      <p:sp>
        <p:nvSpPr>
          <p:cNvPr id="18" name="Shape 16"/>
          <p:cNvSpPr/>
          <p:nvPr/>
        </p:nvSpPr>
        <p:spPr>
          <a:xfrm>
            <a:off x="384048" y="3246120"/>
            <a:ext cx="118872" cy="1325880"/>
          </a:xfrm>
          <a:prstGeom prst="rect">
            <a:avLst/>
          </a:prstGeom>
          <a:solidFill>
            <a:srgbClr val="E8A020"/>
          </a:solidFill>
          <a:ln w="12700">
            <a:solidFill>
              <a:srgbClr val="E8A020"/>
            </a:solidFill>
            <a:prstDash val="solid"/>
          </a:ln>
        </p:spPr>
      </p:sp>
      <p:sp>
        <p:nvSpPr>
          <p:cNvPr id="19" name="Text 17"/>
          <p:cNvSpPr/>
          <p:nvPr/>
        </p:nvSpPr>
        <p:spPr>
          <a:xfrm>
            <a:off x="521208" y="2880360"/>
            <a:ext cx="393192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Absence of Predictive Tools</a:t>
            </a:r>
            <a:endParaRPr lang="en-US" sz="1250" dirty="0"/>
          </a:p>
        </p:txBody>
      </p:sp>
      <p:sp>
        <p:nvSpPr>
          <p:cNvPr id="20" name="Text 18"/>
          <p:cNvSpPr/>
          <p:nvPr/>
        </p:nvSpPr>
        <p:spPr>
          <a:xfrm>
            <a:off x="621792" y="3337560"/>
            <a:ext cx="3749040" cy="114300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No accessible, localized machine learning model exists to predict optimum harvest time for crops using key agricultural indicators such as planted area and production data.</a:t>
            </a:r>
            <a:endParaRPr lang="en-US" sz="1200" dirty="0"/>
          </a:p>
        </p:txBody>
      </p:sp>
      <p:sp>
        <p:nvSpPr>
          <p:cNvPr id="21" name="Shape 19"/>
          <p:cNvSpPr/>
          <p:nvPr/>
        </p:nvSpPr>
        <p:spPr>
          <a:xfrm>
            <a:off x="4773168" y="2880360"/>
            <a:ext cx="4114800" cy="169164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22" name="Shape 20"/>
          <p:cNvSpPr/>
          <p:nvPr/>
        </p:nvSpPr>
        <p:spPr>
          <a:xfrm>
            <a:off x="4773168" y="2880360"/>
            <a:ext cx="4114800" cy="365760"/>
          </a:xfrm>
          <a:prstGeom prst="rect">
            <a:avLst/>
          </a:prstGeom>
          <a:solidFill>
            <a:srgbClr val="1B3A5C"/>
          </a:solidFill>
          <a:ln w="12700">
            <a:solidFill>
              <a:srgbClr val="1B3A5C"/>
            </a:solidFill>
            <a:prstDash val="solid"/>
          </a:ln>
        </p:spPr>
      </p:sp>
      <p:sp>
        <p:nvSpPr>
          <p:cNvPr id="23" name="Shape 21"/>
          <p:cNvSpPr/>
          <p:nvPr/>
        </p:nvSpPr>
        <p:spPr>
          <a:xfrm>
            <a:off x="4773168" y="3246120"/>
            <a:ext cx="118872" cy="1325880"/>
          </a:xfrm>
          <a:prstGeom prst="rect">
            <a:avLst/>
          </a:prstGeom>
          <a:solidFill>
            <a:srgbClr val="E8A020"/>
          </a:solidFill>
          <a:ln w="12700">
            <a:solidFill>
              <a:srgbClr val="E8A020"/>
            </a:solidFill>
            <a:prstDash val="solid"/>
          </a:ln>
        </p:spPr>
      </p:sp>
      <p:sp>
        <p:nvSpPr>
          <p:cNvPr id="24" name="Text 22"/>
          <p:cNvSpPr/>
          <p:nvPr/>
        </p:nvSpPr>
        <p:spPr>
          <a:xfrm>
            <a:off x="4910328" y="2880360"/>
            <a:ext cx="393192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Data Underutilization</a:t>
            </a:r>
            <a:endParaRPr lang="en-US" sz="1250" dirty="0"/>
          </a:p>
        </p:txBody>
      </p:sp>
      <p:sp>
        <p:nvSpPr>
          <p:cNvPr id="25" name="Text 23"/>
          <p:cNvSpPr/>
          <p:nvPr/>
        </p:nvSpPr>
        <p:spPr>
          <a:xfrm>
            <a:off x="5010912" y="3337560"/>
            <a:ext cx="3749040" cy="114300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Agricultural datasets from agencies such as DOSM remain largely unanalyzed for predictive purposes. Linear regression techniques offer a tractable, interpretable modelling approach that is underexplored in this context.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Aim &amp; Objectives</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960120"/>
            <a:ext cx="8412480" cy="987552"/>
          </a:xfrm>
          <a:prstGeom prst="rect">
            <a:avLst/>
          </a:prstGeom>
          <a:solidFill>
            <a:srgbClr val="1B3A5C"/>
          </a:solidFill>
          <a:ln w="12700">
            <a:solidFill>
              <a:srgbClr val="1B3A5C"/>
            </a:solidFill>
            <a:prstDash val="solid"/>
          </a:ln>
        </p:spPr>
      </p:sp>
      <p:sp>
        <p:nvSpPr>
          <p:cNvPr id="7" name="Shape 5"/>
          <p:cNvSpPr/>
          <p:nvPr/>
        </p:nvSpPr>
        <p:spPr>
          <a:xfrm>
            <a:off x="384048" y="960120"/>
            <a:ext cx="118872" cy="987552"/>
          </a:xfrm>
          <a:prstGeom prst="rect">
            <a:avLst/>
          </a:prstGeom>
          <a:solidFill>
            <a:srgbClr val="E8A020"/>
          </a:solidFill>
          <a:ln w="12700">
            <a:solidFill>
              <a:srgbClr val="E8A020"/>
            </a:solidFill>
            <a:prstDash val="solid"/>
          </a:ln>
        </p:spPr>
      </p:sp>
      <p:sp>
        <p:nvSpPr>
          <p:cNvPr id="8" name="Text 6"/>
          <p:cNvSpPr/>
          <p:nvPr/>
        </p:nvSpPr>
        <p:spPr>
          <a:xfrm>
            <a:off x="621792" y="978408"/>
            <a:ext cx="594360" cy="274320"/>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AIM</a:t>
            </a:r>
            <a:endParaRPr lang="en-US" sz="1050" dirty="0"/>
          </a:p>
        </p:txBody>
      </p:sp>
      <p:sp>
        <p:nvSpPr>
          <p:cNvPr id="9" name="Text 7"/>
          <p:cNvSpPr/>
          <p:nvPr/>
        </p:nvSpPr>
        <p:spPr>
          <a:xfrm>
            <a:off x="621792" y="1243584"/>
            <a:ext cx="8046720" cy="64008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To design and implement a Machine Learning Model using Linear Regression that accurately predicts the optimum harvest time for crops in order to maximize agricultural yield and quality.</a:t>
            </a:r>
            <a:endParaRPr lang="en-US" sz="1300" dirty="0"/>
          </a:p>
        </p:txBody>
      </p:sp>
      <p:sp>
        <p:nvSpPr>
          <p:cNvPr id="10" name="Shape 8"/>
          <p:cNvSpPr/>
          <p:nvPr/>
        </p:nvSpPr>
        <p:spPr>
          <a:xfrm>
            <a:off x="384048" y="2194560"/>
            <a:ext cx="420624" cy="420624"/>
          </a:xfrm>
          <a:prstGeom prst="ellipse">
            <a:avLst/>
          </a:prstGeom>
          <a:solidFill>
            <a:srgbClr val="E8A020"/>
          </a:solidFill>
          <a:ln w="12700">
            <a:solidFill>
              <a:srgbClr val="E8A020"/>
            </a:solidFill>
            <a:prstDash val="solid"/>
          </a:ln>
        </p:spPr>
      </p:sp>
      <p:sp>
        <p:nvSpPr>
          <p:cNvPr id="11" name="Text 9"/>
          <p:cNvSpPr/>
          <p:nvPr/>
        </p:nvSpPr>
        <p:spPr>
          <a:xfrm>
            <a:off x="384048" y="2194560"/>
            <a:ext cx="420624"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01</a:t>
            </a:r>
            <a:endParaRPr lang="en-US" sz="1200" dirty="0"/>
          </a:p>
        </p:txBody>
      </p:sp>
      <p:sp>
        <p:nvSpPr>
          <p:cNvPr id="12" name="Shape 10"/>
          <p:cNvSpPr/>
          <p:nvPr/>
        </p:nvSpPr>
        <p:spPr>
          <a:xfrm>
            <a:off x="589788" y="2615184"/>
            <a:ext cx="45720" cy="274320"/>
          </a:xfrm>
          <a:prstGeom prst="rect">
            <a:avLst/>
          </a:prstGeom>
          <a:solidFill>
            <a:srgbClr val="C9D6E3"/>
          </a:solidFill>
          <a:ln w="12700">
            <a:solidFill>
              <a:srgbClr val="C9D6E3"/>
            </a:solidFill>
            <a:prstDash val="solid"/>
          </a:ln>
        </p:spPr>
      </p:sp>
      <p:sp>
        <p:nvSpPr>
          <p:cNvPr id="13" name="Text 11"/>
          <p:cNvSpPr/>
          <p:nvPr/>
        </p:nvSpPr>
        <p:spPr>
          <a:xfrm>
            <a:off x="969264" y="2139696"/>
            <a:ext cx="2743200" cy="274320"/>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Data Collection &amp; Preprocessing</a:t>
            </a:r>
            <a:endParaRPr lang="en-US" sz="1250" dirty="0"/>
          </a:p>
        </p:txBody>
      </p:sp>
      <p:sp>
        <p:nvSpPr>
          <p:cNvPr id="14" name="Text 12"/>
          <p:cNvSpPr/>
          <p:nvPr/>
        </p:nvSpPr>
        <p:spPr>
          <a:xfrm>
            <a:off x="969264" y="2432304"/>
            <a:ext cx="7772400" cy="38404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Collect crop yield, planted area, production data, and harvest records from DOSM and related agricultural databases (1980–2020). Clean, normalize, and prepare data for modelling.</a:t>
            </a:r>
            <a:endParaRPr lang="en-US" sz="1200" dirty="0"/>
          </a:p>
        </p:txBody>
      </p:sp>
      <p:sp>
        <p:nvSpPr>
          <p:cNvPr id="15" name="Shape 13"/>
          <p:cNvSpPr/>
          <p:nvPr/>
        </p:nvSpPr>
        <p:spPr>
          <a:xfrm>
            <a:off x="384048" y="2926080"/>
            <a:ext cx="420624" cy="420624"/>
          </a:xfrm>
          <a:prstGeom prst="ellipse">
            <a:avLst/>
          </a:prstGeom>
          <a:solidFill>
            <a:srgbClr val="E8A020"/>
          </a:solidFill>
          <a:ln w="12700">
            <a:solidFill>
              <a:srgbClr val="E8A020"/>
            </a:solidFill>
            <a:prstDash val="solid"/>
          </a:ln>
        </p:spPr>
      </p:sp>
      <p:sp>
        <p:nvSpPr>
          <p:cNvPr id="16" name="Text 14"/>
          <p:cNvSpPr/>
          <p:nvPr/>
        </p:nvSpPr>
        <p:spPr>
          <a:xfrm>
            <a:off x="384048" y="2926080"/>
            <a:ext cx="420624"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02</a:t>
            </a:r>
            <a:endParaRPr lang="en-US" sz="1200" dirty="0"/>
          </a:p>
        </p:txBody>
      </p:sp>
      <p:sp>
        <p:nvSpPr>
          <p:cNvPr id="17" name="Shape 15"/>
          <p:cNvSpPr/>
          <p:nvPr/>
        </p:nvSpPr>
        <p:spPr>
          <a:xfrm>
            <a:off x="589788" y="3346704"/>
            <a:ext cx="45720" cy="274320"/>
          </a:xfrm>
          <a:prstGeom prst="rect">
            <a:avLst/>
          </a:prstGeom>
          <a:solidFill>
            <a:srgbClr val="C9D6E3"/>
          </a:solidFill>
          <a:ln w="12700">
            <a:solidFill>
              <a:srgbClr val="C9D6E3"/>
            </a:solidFill>
            <a:prstDash val="solid"/>
          </a:ln>
        </p:spPr>
      </p:sp>
      <p:sp>
        <p:nvSpPr>
          <p:cNvPr id="18" name="Text 16"/>
          <p:cNvSpPr/>
          <p:nvPr/>
        </p:nvSpPr>
        <p:spPr>
          <a:xfrm>
            <a:off x="969264" y="2871216"/>
            <a:ext cx="2743200" cy="274320"/>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Develop the MLR Prediction Model</a:t>
            </a:r>
            <a:endParaRPr lang="en-US" sz="1250" dirty="0"/>
          </a:p>
        </p:txBody>
      </p:sp>
      <p:sp>
        <p:nvSpPr>
          <p:cNvPr id="19" name="Text 17"/>
          <p:cNvSpPr/>
          <p:nvPr/>
        </p:nvSpPr>
        <p:spPr>
          <a:xfrm>
            <a:off x="969264" y="3163824"/>
            <a:ext cx="7772400" cy="38404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Apply Multiple Linear Regression (MLR) to establish the mathematical relationship between independent variables (planted area, production, environmental factors) and optimum harvest time as the dependent variable.</a:t>
            </a:r>
            <a:endParaRPr lang="en-US" sz="1200" dirty="0"/>
          </a:p>
        </p:txBody>
      </p:sp>
      <p:sp>
        <p:nvSpPr>
          <p:cNvPr id="20" name="Shape 18"/>
          <p:cNvSpPr/>
          <p:nvPr/>
        </p:nvSpPr>
        <p:spPr>
          <a:xfrm>
            <a:off x="384048" y="3657600"/>
            <a:ext cx="420624" cy="420624"/>
          </a:xfrm>
          <a:prstGeom prst="ellipse">
            <a:avLst/>
          </a:prstGeom>
          <a:solidFill>
            <a:srgbClr val="E8A020"/>
          </a:solidFill>
          <a:ln w="12700">
            <a:solidFill>
              <a:srgbClr val="E8A020"/>
            </a:solidFill>
            <a:prstDash val="solid"/>
          </a:ln>
        </p:spPr>
      </p:sp>
      <p:sp>
        <p:nvSpPr>
          <p:cNvPr id="21" name="Text 19"/>
          <p:cNvSpPr/>
          <p:nvPr/>
        </p:nvSpPr>
        <p:spPr>
          <a:xfrm>
            <a:off x="384048" y="3657600"/>
            <a:ext cx="420624"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03</a:t>
            </a:r>
            <a:endParaRPr lang="en-US" sz="1200" dirty="0"/>
          </a:p>
        </p:txBody>
      </p:sp>
      <p:sp>
        <p:nvSpPr>
          <p:cNvPr id="22" name="Shape 20"/>
          <p:cNvSpPr/>
          <p:nvPr/>
        </p:nvSpPr>
        <p:spPr>
          <a:xfrm>
            <a:off x="589788" y="4078224"/>
            <a:ext cx="45720" cy="274320"/>
          </a:xfrm>
          <a:prstGeom prst="rect">
            <a:avLst/>
          </a:prstGeom>
          <a:solidFill>
            <a:srgbClr val="C9D6E3"/>
          </a:solidFill>
          <a:ln w="12700">
            <a:solidFill>
              <a:srgbClr val="C9D6E3"/>
            </a:solidFill>
            <a:prstDash val="solid"/>
          </a:ln>
        </p:spPr>
      </p:sp>
      <p:sp>
        <p:nvSpPr>
          <p:cNvPr id="23" name="Text 21"/>
          <p:cNvSpPr/>
          <p:nvPr/>
        </p:nvSpPr>
        <p:spPr>
          <a:xfrm>
            <a:off x="969264" y="3602736"/>
            <a:ext cx="2743200" cy="274320"/>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Validate Model Assumptions</a:t>
            </a:r>
            <a:endParaRPr lang="en-US" sz="1250" dirty="0"/>
          </a:p>
        </p:txBody>
      </p:sp>
      <p:sp>
        <p:nvSpPr>
          <p:cNvPr id="24" name="Text 22"/>
          <p:cNvSpPr/>
          <p:nvPr/>
        </p:nvSpPr>
        <p:spPr>
          <a:xfrm>
            <a:off x="969264" y="3895344"/>
            <a:ext cx="7772400" cy="38404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Verify linearity, absence of multicollinearity (VIF &lt; 10), constant variance (homoscedasticity), and normality of residuals using scatter plots, correlation matrices, and ANOVA.</a:t>
            </a:r>
            <a:endParaRPr lang="en-US" sz="1200" dirty="0"/>
          </a:p>
        </p:txBody>
      </p:sp>
      <p:sp>
        <p:nvSpPr>
          <p:cNvPr id="25" name="Shape 23"/>
          <p:cNvSpPr/>
          <p:nvPr/>
        </p:nvSpPr>
        <p:spPr>
          <a:xfrm>
            <a:off x="384048" y="4389120"/>
            <a:ext cx="420624" cy="420624"/>
          </a:xfrm>
          <a:prstGeom prst="ellipse">
            <a:avLst/>
          </a:prstGeom>
          <a:solidFill>
            <a:srgbClr val="E8A020"/>
          </a:solidFill>
          <a:ln w="12700">
            <a:solidFill>
              <a:srgbClr val="E8A020"/>
            </a:solidFill>
            <a:prstDash val="solid"/>
          </a:ln>
        </p:spPr>
      </p:sp>
      <p:sp>
        <p:nvSpPr>
          <p:cNvPr id="26" name="Text 24"/>
          <p:cNvSpPr/>
          <p:nvPr/>
        </p:nvSpPr>
        <p:spPr>
          <a:xfrm>
            <a:off x="384048" y="4389120"/>
            <a:ext cx="420624"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04</a:t>
            </a:r>
            <a:endParaRPr lang="en-US" sz="1200" dirty="0"/>
          </a:p>
        </p:txBody>
      </p:sp>
      <p:sp>
        <p:nvSpPr>
          <p:cNvPr id="27" name="Text 25"/>
          <p:cNvSpPr/>
          <p:nvPr/>
        </p:nvSpPr>
        <p:spPr>
          <a:xfrm>
            <a:off x="969264" y="4334256"/>
            <a:ext cx="2743200" cy="274320"/>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Evaluate &amp; Interpret Results</a:t>
            </a:r>
            <a:endParaRPr lang="en-US" sz="1250" dirty="0"/>
          </a:p>
        </p:txBody>
      </p:sp>
      <p:sp>
        <p:nvSpPr>
          <p:cNvPr id="28" name="Text 26"/>
          <p:cNvSpPr/>
          <p:nvPr/>
        </p:nvSpPr>
        <p:spPr>
          <a:xfrm>
            <a:off x="969264" y="4626864"/>
            <a:ext cx="7772400" cy="38404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Assess model fit (R², Adjusted R²), statistical significance (p &lt; 0.05), and interpret regression coefficients to provide actionable harvest timing recommendations for crops.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Scope of the Study</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960120"/>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7" name="Shape 5"/>
          <p:cNvSpPr/>
          <p:nvPr/>
        </p:nvSpPr>
        <p:spPr>
          <a:xfrm>
            <a:off x="384048" y="960120"/>
            <a:ext cx="118872" cy="1298448"/>
          </a:xfrm>
          <a:prstGeom prst="rect">
            <a:avLst/>
          </a:prstGeom>
          <a:solidFill>
            <a:srgbClr val="1B3A5C"/>
          </a:solidFill>
          <a:ln w="12700">
            <a:solidFill>
              <a:srgbClr val="1B3A5C"/>
            </a:solidFill>
            <a:prstDash val="solid"/>
          </a:ln>
        </p:spPr>
      </p:sp>
      <p:sp>
        <p:nvSpPr>
          <p:cNvPr id="8" name="Text 6"/>
          <p:cNvSpPr/>
          <p:nvPr/>
        </p:nvSpPr>
        <p:spPr>
          <a:xfrm>
            <a:off x="603504" y="1033272"/>
            <a:ext cx="3749040" cy="256032"/>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Focus Area</a:t>
            </a:r>
            <a:endParaRPr lang="en-US" sz="1200" dirty="0"/>
          </a:p>
        </p:txBody>
      </p:sp>
      <p:sp>
        <p:nvSpPr>
          <p:cNvPr id="9" name="Text 7"/>
          <p:cNvSpPr/>
          <p:nvPr/>
        </p:nvSpPr>
        <p:spPr>
          <a:xfrm>
            <a:off x="603504" y="1344168"/>
            <a:ext cx="3749040" cy="82296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Prediction of optimum harvest time for agricultural crops using statistical machine learning (Linear Regression).</a:t>
            </a:r>
            <a:endParaRPr lang="en-US" sz="1200" dirty="0"/>
          </a:p>
        </p:txBody>
      </p:sp>
      <p:sp>
        <p:nvSpPr>
          <p:cNvPr id="10" name="Shape 8"/>
          <p:cNvSpPr/>
          <p:nvPr/>
        </p:nvSpPr>
        <p:spPr>
          <a:xfrm>
            <a:off x="4773168" y="960120"/>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1" name="Shape 9"/>
          <p:cNvSpPr/>
          <p:nvPr/>
        </p:nvSpPr>
        <p:spPr>
          <a:xfrm>
            <a:off x="4773168" y="960120"/>
            <a:ext cx="118872" cy="1298448"/>
          </a:xfrm>
          <a:prstGeom prst="rect">
            <a:avLst/>
          </a:prstGeom>
          <a:solidFill>
            <a:srgbClr val="E8A020"/>
          </a:solidFill>
          <a:ln w="12700">
            <a:solidFill>
              <a:srgbClr val="E8A020"/>
            </a:solidFill>
            <a:prstDash val="solid"/>
          </a:ln>
        </p:spPr>
      </p:sp>
      <p:sp>
        <p:nvSpPr>
          <p:cNvPr id="12" name="Text 10"/>
          <p:cNvSpPr/>
          <p:nvPr/>
        </p:nvSpPr>
        <p:spPr>
          <a:xfrm>
            <a:off x="4992624" y="1033272"/>
            <a:ext cx="3749040" cy="256032"/>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Data Source</a:t>
            </a:r>
            <a:endParaRPr lang="en-US" sz="1200" dirty="0"/>
          </a:p>
        </p:txBody>
      </p:sp>
      <p:sp>
        <p:nvSpPr>
          <p:cNvPr id="13" name="Text 11"/>
          <p:cNvSpPr/>
          <p:nvPr/>
        </p:nvSpPr>
        <p:spPr>
          <a:xfrm>
            <a:off x="4992624" y="1344168"/>
            <a:ext cx="3749040" cy="82296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Department of Statistics Malaysia (DOSM), Yearly Agriculture &amp; Economic Statistics, 1980–2020.</a:t>
            </a:r>
            <a:endParaRPr lang="en-US" sz="1200" dirty="0"/>
          </a:p>
        </p:txBody>
      </p:sp>
      <p:sp>
        <p:nvSpPr>
          <p:cNvPr id="14" name="Shape 12"/>
          <p:cNvSpPr/>
          <p:nvPr/>
        </p:nvSpPr>
        <p:spPr>
          <a:xfrm>
            <a:off x="384048" y="2404872"/>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5" name="Shape 13"/>
          <p:cNvSpPr/>
          <p:nvPr/>
        </p:nvSpPr>
        <p:spPr>
          <a:xfrm>
            <a:off x="384048" y="2404872"/>
            <a:ext cx="118872" cy="1298448"/>
          </a:xfrm>
          <a:prstGeom prst="rect">
            <a:avLst/>
          </a:prstGeom>
          <a:solidFill>
            <a:srgbClr val="D4691E"/>
          </a:solidFill>
          <a:ln w="12700">
            <a:solidFill>
              <a:srgbClr val="D4691E"/>
            </a:solidFill>
            <a:prstDash val="solid"/>
          </a:ln>
        </p:spPr>
      </p:sp>
      <p:sp>
        <p:nvSpPr>
          <p:cNvPr id="16" name="Text 14"/>
          <p:cNvSpPr/>
          <p:nvPr/>
        </p:nvSpPr>
        <p:spPr>
          <a:xfrm>
            <a:off x="603504" y="2478024"/>
            <a:ext cx="3749040" cy="256032"/>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Variables</a:t>
            </a:r>
            <a:endParaRPr lang="en-US" sz="1200" dirty="0"/>
          </a:p>
        </p:txBody>
      </p:sp>
      <p:sp>
        <p:nvSpPr>
          <p:cNvPr id="17" name="Text 15"/>
          <p:cNvSpPr/>
          <p:nvPr/>
        </p:nvSpPr>
        <p:spPr>
          <a:xfrm>
            <a:off x="603504" y="2788920"/>
            <a:ext cx="3749040" cy="82296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Dependent: Optimum Harvest Time / Average Crop Yield</a:t>
            </a:r>
            <a:endParaRPr lang="en-US" sz="1200" dirty="0"/>
          </a:p>
          <a:p>
            <a:pPr marL="0" indent="0">
              <a:buNone/>
            </a:pPr>
            <a:r>
              <a:rPr lang="en-US" sz="1200" dirty="0">
                <a:solidFill>
                  <a:srgbClr val="1A2B3C"/>
                </a:solidFill>
                <a:latin typeface="Calibri" pitchFamily="34" charset="0"/>
                <a:ea typeface="Calibri" pitchFamily="34" charset="-122"/>
                <a:cs typeface="Calibri" pitchFamily="34" charset="-120"/>
              </a:rPr>
              <a:t>Independent: Planted Area, Rice Production, Environmental Factors.</a:t>
            </a:r>
            <a:endParaRPr lang="en-US" sz="1200" dirty="0"/>
          </a:p>
        </p:txBody>
      </p:sp>
      <p:sp>
        <p:nvSpPr>
          <p:cNvPr id="18" name="Shape 16"/>
          <p:cNvSpPr/>
          <p:nvPr/>
        </p:nvSpPr>
        <p:spPr>
          <a:xfrm>
            <a:off x="4773168" y="2404872"/>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9" name="Shape 17"/>
          <p:cNvSpPr/>
          <p:nvPr/>
        </p:nvSpPr>
        <p:spPr>
          <a:xfrm>
            <a:off x="4773168" y="2404872"/>
            <a:ext cx="118872" cy="1298448"/>
          </a:xfrm>
          <a:prstGeom prst="rect">
            <a:avLst/>
          </a:prstGeom>
          <a:solidFill>
            <a:srgbClr val="1B3A5C"/>
          </a:solidFill>
          <a:ln w="12700">
            <a:solidFill>
              <a:srgbClr val="1B3A5C"/>
            </a:solidFill>
            <a:prstDash val="solid"/>
          </a:ln>
        </p:spPr>
      </p:sp>
      <p:sp>
        <p:nvSpPr>
          <p:cNvPr id="20" name="Text 18"/>
          <p:cNvSpPr/>
          <p:nvPr/>
        </p:nvSpPr>
        <p:spPr>
          <a:xfrm>
            <a:off x="4992624" y="2478024"/>
            <a:ext cx="3749040" cy="256032"/>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Method</a:t>
            </a:r>
            <a:endParaRPr lang="en-US" sz="1200" dirty="0"/>
          </a:p>
        </p:txBody>
      </p:sp>
      <p:sp>
        <p:nvSpPr>
          <p:cNvPr id="21" name="Text 19"/>
          <p:cNvSpPr/>
          <p:nvPr/>
        </p:nvSpPr>
        <p:spPr>
          <a:xfrm>
            <a:off x="4992624" y="2788920"/>
            <a:ext cx="3749040" cy="82296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Multiple Linear Regression (MLR) analysed using Microsoft Excel and SPSS statistical software.</a:t>
            </a:r>
            <a:endParaRPr lang="en-US" sz="1200" dirty="0"/>
          </a:p>
        </p:txBody>
      </p:sp>
      <p:sp>
        <p:nvSpPr>
          <p:cNvPr id="22" name="Shape 20"/>
          <p:cNvSpPr/>
          <p:nvPr/>
        </p:nvSpPr>
        <p:spPr>
          <a:xfrm>
            <a:off x="384048" y="3849624"/>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23" name="Shape 21"/>
          <p:cNvSpPr/>
          <p:nvPr/>
        </p:nvSpPr>
        <p:spPr>
          <a:xfrm>
            <a:off x="384048" y="3849624"/>
            <a:ext cx="118872" cy="1298448"/>
          </a:xfrm>
          <a:prstGeom prst="rect">
            <a:avLst/>
          </a:prstGeom>
          <a:solidFill>
            <a:srgbClr val="E8A020"/>
          </a:solidFill>
          <a:ln w="12700">
            <a:solidFill>
              <a:srgbClr val="E8A020"/>
            </a:solidFill>
            <a:prstDash val="solid"/>
          </a:ln>
        </p:spPr>
      </p:sp>
      <p:sp>
        <p:nvSpPr>
          <p:cNvPr id="24" name="Text 22"/>
          <p:cNvSpPr/>
          <p:nvPr/>
        </p:nvSpPr>
        <p:spPr>
          <a:xfrm>
            <a:off x="603504" y="3922776"/>
            <a:ext cx="3749040" cy="256032"/>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Crop Coverage</a:t>
            </a:r>
            <a:endParaRPr lang="en-US" sz="1200" dirty="0"/>
          </a:p>
        </p:txBody>
      </p:sp>
      <p:sp>
        <p:nvSpPr>
          <p:cNvPr id="25" name="Text 23"/>
          <p:cNvSpPr/>
          <p:nvPr/>
        </p:nvSpPr>
        <p:spPr>
          <a:xfrm>
            <a:off x="603504" y="4233672"/>
            <a:ext cx="3749040" cy="82296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Primary focus on rice/paddy production. Findings generalizable to other major crops facing harvest timing challenges.</a:t>
            </a:r>
            <a:endParaRPr lang="en-US" sz="1200" dirty="0"/>
          </a:p>
        </p:txBody>
      </p:sp>
      <p:sp>
        <p:nvSpPr>
          <p:cNvPr id="26" name="Shape 24"/>
          <p:cNvSpPr/>
          <p:nvPr/>
        </p:nvSpPr>
        <p:spPr>
          <a:xfrm>
            <a:off x="4773168" y="3849624"/>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27" name="Shape 25"/>
          <p:cNvSpPr/>
          <p:nvPr/>
        </p:nvSpPr>
        <p:spPr>
          <a:xfrm>
            <a:off x="4773168" y="3849624"/>
            <a:ext cx="118872" cy="1298448"/>
          </a:xfrm>
          <a:prstGeom prst="rect">
            <a:avLst/>
          </a:prstGeom>
          <a:solidFill>
            <a:srgbClr val="D4691E"/>
          </a:solidFill>
          <a:ln w="12700">
            <a:solidFill>
              <a:srgbClr val="D4691E"/>
            </a:solidFill>
            <a:prstDash val="solid"/>
          </a:ln>
        </p:spPr>
      </p:sp>
      <p:sp>
        <p:nvSpPr>
          <p:cNvPr id="28" name="Text 26"/>
          <p:cNvSpPr/>
          <p:nvPr/>
        </p:nvSpPr>
        <p:spPr>
          <a:xfrm>
            <a:off x="4992624" y="3922776"/>
            <a:ext cx="3749040" cy="256032"/>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Limitation</a:t>
            </a:r>
            <a:endParaRPr lang="en-US" sz="1200" dirty="0"/>
          </a:p>
        </p:txBody>
      </p:sp>
      <p:sp>
        <p:nvSpPr>
          <p:cNvPr id="29" name="Text 27"/>
          <p:cNvSpPr/>
          <p:nvPr/>
        </p:nvSpPr>
        <p:spPr>
          <a:xfrm>
            <a:off x="4992624" y="4233672"/>
            <a:ext cx="3749040" cy="822960"/>
          </a:xfrm>
          <a:prstGeom prst="rect">
            <a:avLst/>
          </a:prstGeom>
          <a:noFill/>
          <a:ln/>
        </p:spPr>
        <p:txBody>
          <a:bodyPr wrap="square" rtlCol="0" anchor="t"/>
          <a:lstStyle/>
          <a:p>
            <a:pPr marL="0" indent="0">
              <a:buNone/>
            </a:pPr>
            <a:r>
              <a:rPr lang="en-US" sz="1200" dirty="0">
                <a:solidFill>
                  <a:srgbClr val="1A2B3C"/>
                </a:solidFill>
                <a:latin typeface="Calibri" pitchFamily="34" charset="0"/>
                <a:ea typeface="Calibri" pitchFamily="34" charset="-122"/>
                <a:cs typeface="Calibri" pitchFamily="34" charset="-120"/>
              </a:rPr>
              <a:t>Model limited to 2 primary independent variables due to data availability; further variables (weather, soil) are recommended for future 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Literature Review</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467445496"/>
              </p:ext>
            </p:extLst>
          </p:nvPr>
        </p:nvGraphicFramePr>
        <p:xfrm>
          <a:off x="384048" y="960120"/>
          <a:ext cx="8412480" cy="3401568"/>
        </p:xfrm>
        <a:graphic>
          <a:graphicData uri="http://schemas.openxmlformats.org/drawingml/2006/table">
            <a:tbl>
              <a:tblPr/>
              <a:tblGrid>
                <a:gridCol w="20116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Author(s) &amp; Year</a:t>
                      </a:r>
                      <a:endParaRPr lang="en-US" sz="1200" dirty="0">
                        <a:latin typeface="Calibri" charset="0"/>
                        <a:ea typeface="Calibri" charset="0"/>
                        <a:cs typeface="Calibri" charset="0"/>
                      </a:endParaRPr>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1B3A5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 / Model</a:t>
                      </a:r>
                      <a:endParaRPr lang="en-US" sz="1200" dirty="0">
                        <a:latin typeface="Calibri" charset="0"/>
                        <a:ea typeface="Calibri" charset="0"/>
                        <a:cs typeface="Calibri" charset="0"/>
                      </a:endParaRPr>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1B3A5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Finding &amp; Relevance to This Work</a:t>
                      </a:r>
                      <a:endParaRPr lang="en-US" sz="1200" dirty="0">
                        <a:latin typeface="Calibri" charset="0"/>
                        <a:ea typeface="Calibri" charset="0"/>
                        <a:cs typeface="Calibri" charset="0"/>
                      </a:endParaRPr>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Panda et al. (2010)</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ANN + Vegetation Indices</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Neural networks predict crop yield from remote sensing data with high accuracy, supports ML applicability to agricultural datasets.</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Drummond et al. (2003)</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0F8"/>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Statistical &amp; Neural Methods</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0F8"/>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MLR remains competitive with ANN for site specific yield prediction, justifying our use of linear regression as primary model.</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566928">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Abrougui et al. (2019)</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ANN vs. MLR (potato)</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MLR performs comparably to ANN for organic crop yield prediction with soil/tillage inputs, closest study to our approach.</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Ji et al. (2007)</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0F8"/>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ANN – Rice Yield</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0F8"/>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ANN models capture non-linear patterns in rice yield; highlights limitation of MLR for highly non-linear data.</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r h="566928">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Box et al. (2015)</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ARIMA / Time Series</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100" dirty="0">
                          <a:solidFill>
                            <a:srgbClr val="1A2B3C"/>
                          </a:solidFill>
                          <a:latin typeface="Calibri" pitchFamily="34" charset="0"/>
                          <a:ea typeface="Calibri" pitchFamily="34" charset="-122"/>
                          <a:cs typeface="Calibri" pitchFamily="34" charset="-120"/>
                        </a:rPr>
                        <a:t>ARIMA captures temporal autocorrelation in agricultural time-series data, useful for validating MLR against time-based models.</a:t>
                      </a:r>
                      <a:endParaRPr lang="en-US" sz="1100" dirty="0">
                        <a:latin typeface="Calibri" charset="0"/>
                        <a:ea typeface="Calibri" charset="0"/>
                        <a:cs typeface="Calibri" charset="0"/>
                      </a:endParaRPr>
                    </a:p>
                  </a:txBody>
                  <a:tcPr anchor="ct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Identified Project Gap</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1005840"/>
            <a:ext cx="8412480" cy="118872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7" name="Shape 5"/>
          <p:cNvSpPr/>
          <p:nvPr/>
        </p:nvSpPr>
        <p:spPr>
          <a:xfrm>
            <a:off x="384048" y="1005840"/>
            <a:ext cx="118872" cy="1188720"/>
          </a:xfrm>
          <a:prstGeom prst="rect">
            <a:avLst/>
          </a:prstGeom>
          <a:solidFill>
            <a:srgbClr val="1B3A5C"/>
          </a:solidFill>
          <a:ln w="12700">
            <a:solidFill>
              <a:srgbClr val="1B3A5C"/>
            </a:solidFill>
            <a:prstDash val="solid"/>
          </a:ln>
        </p:spPr>
      </p:sp>
      <p:sp>
        <p:nvSpPr>
          <p:cNvPr id="8" name="Text 6"/>
          <p:cNvSpPr/>
          <p:nvPr/>
        </p:nvSpPr>
        <p:spPr>
          <a:xfrm>
            <a:off x="621792" y="1069848"/>
            <a:ext cx="804672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No Localized Harvest Prediction Model for Nigerian/African Crops</a:t>
            </a:r>
            <a:endParaRPr lang="en-US" sz="1300" dirty="0"/>
          </a:p>
        </p:txBody>
      </p:sp>
      <p:sp>
        <p:nvSpPr>
          <p:cNvPr id="9" name="Text 7"/>
          <p:cNvSpPr/>
          <p:nvPr/>
        </p:nvSpPr>
        <p:spPr>
          <a:xfrm>
            <a:off x="621792" y="1389888"/>
            <a:ext cx="8046720" cy="731520"/>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Existing crop yield prediction studies focus predominantly on Asian (Malaysia, India) or Western agricultural datasets. There is a clear gap in localized models built on African crop data, particularly for Nigerian smallholder farming contexts.</a:t>
            </a:r>
            <a:endParaRPr lang="en-US" sz="1250" dirty="0"/>
          </a:p>
        </p:txBody>
      </p:sp>
      <p:sp>
        <p:nvSpPr>
          <p:cNvPr id="10" name="Shape 8"/>
          <p:cNvSpPr/>
          <p:nvPr/>
        </p:nvSpPr>
        <p:spPr>
          <a:xfrm>
            <a:off x="384048" y="2340864"/>
            <a:ext cx="8412480" cy="118872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1" name="Shape 9"/>
          <p:cNvSpPr/>
          <p:nvPr/>
        </p:nvSpPr>
        <p:spPr>
          <a:xfrm>
            <a:off x="384048" y="2340864"/>
            <a:ext cx="118872" cy="1188720"/>
          </a:xfrm>
          <a:prstGeom prst="rect">
            <a:avLst/>
          </a:prstGeom>
          <a:solidFill>
            <a:srgbClr val="E8A020"/>
          </a:solidFill>
          <a:ln w="12700">
            <a:solidFill>
              <a:srgbClr val="E8A020"/>
            </a:solidFill>
            <a:prstDash val="solid"/>
          </a:ln>
        </p:spPr>
      </p:sp>
      <p:sp>
        <p:nvSpPr>
          <p:cNvPr id="12" name="Text 10"/>
          <p:cNvSpPr/>
          <p:nvPr/>
        </p:nvSpPr>
        <p:spPr>
          <a:xfrm>
            <a:off x="621792" y="2404872"/>
            <a:ext cx="804672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MLR Underutilized for Harvest Timing (vs. Yield Prediction)</a:t>
            </a:r>
            <a:endParaRPr lang="en-US" sz="1300" dirty="0"/>
          </a:p>
        </p:txBody>
      </p:sp>
      <p:sp>
        <p:nvSpPr>
          <p:cNvPr id="13" name="Text 11"/>
          <p:cNvSpPr/>
          <p:nvPr/>
        </p:nvSpPr>
        <p:spPr>
          <a:xfrm>
            <a:off x="621792" y="2724912"/>
            <a:ext cx="8046720" cy="731520"/>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Most literature applies MLR or ANN to average yield prediction, not specifically to harvest timing. This study bridges that gap by reframing harvest time as the target variable, enabling actionable, time-sensitive recommendations for farmers.</a:t>
            </a:r>
            <a:endParaRPr lang="en-US" sz="1250" dirty="0"/>
          </a:p>
        </p:txBody>
      </p:sp>
      <p:sp>
        <p:nvSpPr>
          <p:cNvPr id="14" name="Shape 12"/>
          <p:cNvSpPr/>
          <p:nvPr/>
        </p:nvSpPr>
        <p:spPr>
          <a:xfrm>
            <a:off x="384048" y="3675888"/>
            <a:ext cx="8412480" cy="1188720"/>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5" name="Shape 13"/>
          <p:cNvSpPr/>
          <p:nvPr/>
        </p:nvSpPr>
        <p:spPr>
          <a:xfrm>
            <a:off x="384048" y="3675888"/>
            <a:ext cx="118872" cy="1188720"/>
          </a:xfrm>
          <a:prstGeom prst="rect">
            <a:avLst/>
          </a:prstGeom>
          <a:solidFill>
            <a:srgbClr val="D4691E"/>
          </a:solidFill>
          <a:ln w="12700">
            <a:solidFill>
              <a:srgbClr val="D4691E"/>
            </a:solidFill>
            <a:prstDash val="solid"/>
          </a:ln>
        </p:spPr>
      </p:sp>
      <p:sp>
        <p:nvSpPr>
          <p:cNvPr id="16" name="Text 14"/>
          <p:cNvSpPr/>
          <p:nvPr/>
        </p:nvSpPr>
        <p:spPr>
          <a:xfrm>
            <a:off x="621792" y="3739896"/>
            <a:ext cx="804672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Lack of Interpretable, Accessible Tools for Farmers &amp; Policymakers</a:t>
            </a:r>
            <a:endParaRPr lang="en-US" sz="1300" dirty="0"/>
          </a:p>
        </p:txBody>
      </p:sp>
      <p:sp>
        <p:nvSpPr>
          <p:cNvPr id="17" name="Text 15"/>
          <p:cNvSpPr/>
          <p:nvPr/>
        </p:nvSpPr>
        <p:spPr>
          <a:xfrm>
            <a:off x="621792" y="4059936"/>
            <a:ext cx="8046720" cy="731520"/>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Existing deep learning and ANN models are computationally expensive and difficult to interpret. MLR offers a transparent, interpretable, and computationally efficient alternative that is accessible to agricultural officers and smallholder farmers without advanced technical knowledge.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Methodology</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1097280"/>
            <a:ext cx="438912" cy="438912"/>
          </a:xfrm>
          <a:prstGeom prst="ellipse">
            <a:avLst/>
          </a:prstGeom>
          <a:solidFill>
            <a:srgbClr val="E8A020"/>
          </a:solidFill>
          <a:ln w="12700">
            <a:solidFill>
              <a:srgbClr val="E8A020"/>
            </a:solidFill>
            <a:prstDash val="solid"/>
          </a:ln>
        </p:spPr>
      </p:sp>
      <p:sp>
        <p:nvSpPr>
          <p:cNvPr id="7" name="Text 5"/>
          <p:cNvSpPr/>
          <p:nvPr/>
        </p:nvSpPr>
        <p:spPr>
          <a:xfrm>
            <a:off x="384048" y="1097280"/>
            <a:ext cx="438912" cy="43891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1</a:t>
            </a:r>
            <a:endParaRPr lang="en-US" sz="1400" dirty="0"/>
          </a:p>
        </p:txBody>
      </p:sp>
      <p:sp>
        <p:nvSpPr>
          <p:cNvPr id="8" name="Shape 6"/>
          <p:cNvSpPr/>
          <p:nvPr/>
        </p:nvSpPr>
        <p:spPr>
          <a:xfrm>
            <a:off x="589788" y="1536192"/>
            <a:ext cx="45720" cy="347472"/>
          </a:xfrm>
          <a:prstGeom prst="rect">
            <a:avLst/>
          </a:prstGeom>
          <a:solidFill>
            <a:srgbClr val="C9D6E3"/>
          </a:solidFill>
          <a:ln w="12700">
            <a:solidFill>
              <a:srgbClr val="C9D6E3"/>
            </a:solidFill>
            <a:prstDash val="solid"/>
          </a:ln>
        </p:spPr>
      </p:sp>
      <p:sp>
        <p:nvSpPr>
          <p:cNvPr id="9" name="Text 7"/>
          <p:cNvSpPr/>
          <p:nvPr/>
        </p:nvSpPr>
        <p:spPr>
          <a:xfrm>
            <a:off x="969264" y="1051560"/>
            <a:ext cx="274320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Data Collection</a:t>
            </a:r>
            <a:endParaRPr lang="en-US" sz="1300" dirty="0"/>
          </a:p>
        </p:txBody>
      </p:sp>
      <p:sp>
        <p:nvSpPr>
          <p:cNvPr id="10" name="Text 8"/>
          <p:cNvSpPr/>
          <p:nvPr/>
        </p:nvSpPr>
        <p:spPr>
          <a:xfrm>
            <a:off x="969264" y="1353312"/>
            <a:ext cx="7772400" cy="420624"/>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Yearly Malaysia Agriculture &amp; Economic Statistics from DOSM (1980 – 2020). Variables: average crop yield, planted area, rice production. Analysis tools: Microsoft Excel and SPSS.</a:t>
            </a:r>
            <a:endParaRPr lang="en-US" sz="1250" dirty="0"/>
          </a:p>
        </p:txBody>
      </p:sp>
      <p:sp>
        <p:nvSpPr>
          <p:cNvPr id="11" name="Shape 9"/>
          <p:cNvSpPr/>
          <p:nvPr/>
        </p:nvSpPr>
        <p:spPr>
          <a:xfrm>
            <a:off x="384048" y="1920240"/>
            <a:ext cx="438912" cy="438912"/>
          </a:xfrm>
          <a:prstGeom prst="ellipse">
            <a:avLst/>
          </a:prstGeom>
          <a:solidFill>
            <a:srgbClr val="E8A020"/>
          </a:solidFill>
          <a:ln w="12700">
            <a:solidFill>
              <a:srgbClr val="E8A020"/>
            </a:solidFill>
            <a:prstDash val="solid"/>
          </a:ln>
        </p:spPr>
      </p:sp>
      <p:sp>
        <p:nvSpPr>
          <p:cNvPr id="12" name="Text 10"/>
          <p:cNvSpPr/>
          <p:nvPr/>
        </p:nvSpPr>
        <p:spPr>
          <a:xfrm>
            <a:off x="384048" y="1920240"/>
            <a:ext cx="438912" cy="43891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2</a:t>
            </a:r>
            <a:endParaRPr lang="en-US" sz="1400" dirty="0"/>
          </a:p>
        </p:txBody>
      </p:sp>
      <p:sp>
        <p:nvSpPr>
          <p:cNvPr id="13" name="Shape 11"/>
          <p:cNvSpPr/>
          <p:nvPr/>
        </p:nvSpPr>
        <p:spPr>
          <a:xfrm>
            <a:off x="589788" y="2359152"/>
            <a:ext cx="45720" cy="347472"/>
          </a:xfrm>
          <a:prstGeom prst="rect">
            <a:avLst/>
          </a:prstGeom>
          <a:solidFill>
            <a:srgbClr val="C9D6E3"/>
          </a:solidFill>
          <a:ln w="12700">
            <a:solidFill>
              <a:srgbClr val="C9D6E3"/>
            </a:solidFill>
            <a:prstDash val="solid"/>
          </a:ln>
        </p:spPr>
      </p:sp>
      <p:sp>
        <p:nvSpPr>
          <p:cNvPr id="14" name="Text 12"/>
          <p:cNvSpPr/>
          <p:nvPr/>
        </p:nvSpPr>
        <p:spPr>
          <a:xfrm>
            <a:off x="969264" y="1874520"/>
            <a:ext cx="274320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Exploratory Data Analysis</a:t>
            </a:r>
            <a:endParaRPr lang="en-US" sz="1300" dirty="0"/>
          </a:p>
        </p:txBody>
      </p:sp>
      <p:sp>
        <p:nvSpPr>
          <p:cNvPr id="15" name="Text 13"/>
          <p:cNvSpPr/>
          <p:nvPr/>
        </p:nvSpPr>
        <p:spPr>
          <a:xfrm>
            <a:off x="969264" y="2176272"/>
            <a:ext cx="7772400" cy="420624"/>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Scatter plots to check linearity between each independent variable (planted area, rice production) and the dependent variable (average crop yield / harvest time).</a:t>
            </a:r>
            <a:endParaRPr lang="en-US" sz="1250" dirty="0"/>
          </a:p>
        </p:txBody>
      </p:sp>
      <p:sp>
        <p:nvSpPr>
          <p:cNvPr id="16" name="Shape 14"/>
          <p:cNvSpPr/>
          <p:nvPr/>
        </p:nvSpPr>
        <p:spPr>
          <a:xfrm>
            <a:off x="384048" y="2743200"/>
            <a:ext cx="438912" cy="438912"/>
          </a:xfrm>
          <a:prstGeom prst="ellipse">
            <a:avLst/>
          </a:prstGeom>
          <a:solidFill>
            <a:srgbClr val="E8A020"/>
          </a:solidFill>
          <a:ln w="12700">
            <a:solidFill>
              <a:srgbClr val="E8A020"/>
            </a:solidFill>
            <a:prstDash val="solid"/>
          </a:ln>
        </p:spPr>
      </p:sp>
      <p:sp>
        <p:nvSpPr>
          <p:cNvPr id="17" name="Text 15"/>
          <p:cNvSpPr/>
          <p:nvPr/>
        </p:nvSpPr>
        <p:spPr>
          <a:xfrm>
            <a:off x="384048" y="2743200"/>
            <a:ext cx="438912" cy="43891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3</a:t>
            </a:r>
            <a:endParaRPr lang="en-US" sz="1400" dirty="0"/>
          </a:p>
        </p:txBody>
      </p:sp>
      <p:sp>
        <p:nvSpPr>
          <p:cNvPr id="18" name="Shape 16"/>
          <p:cNvSpPr/>
          <p:nvPr/>
        </p:nvSpPr>
        <p:spPr>
          <a:xfrm>
            <a:off x="589788" y="3182112"/>
            <a:ext cx="45720" cy="347472"/>
          </a:xfrm>
          <a:prstGeom prst="rect">
            <a:avLst/>
          </a:prstGeom>
          <a:solidFill>
            <a:srgbClr val="C9D6E3"/>
          </a:solidFill>
          <a:ln w="12700">
            <a:solidFill>
              <a:srgbClr val="C9D6E3"/>
            </a:solidFill>
            <a:prstDash val="solid"/>
          </a:ln>
        </p:spPr>
      </p:sp>
      <p:sp>
        <p:nvSpPr>
          <p:cNvPr id="19" name="Text 17"/>
          <p:cNvSpPr/>
          <p:nvPr/>
        </p:nvSpPr>
        <p:spPr>
          <a:xfrm>
            <a:off x="969264" y="2697480"/>
            <a:ext cx="274320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Assumption Verification</a:t>
            </a:r>
            <a:endParaRPr lang="en-US" sz="1300" dirty="0"/>
          </a:p>
        </p:txBody>
      </p:sp>
      <p:sp>
        <p:nvSpPr>
          <p:cNvPr id="20" name="Text 18"/>
          <p:cNvSpPr/>
          <p:nvPr/>
        </p:nvSpPr>
        <p:spPr>
          <a:xfrm>
            <a:off x="969264" y="2999232"/>
            <a:ext cx="7772400" cy="420624"/>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(a) Linearity — scatter plots; (b) Multicollinearity — Correlation Matrix &amp; VIF (must be &lt; 10); (c) Constant Variance — residual scatter plot; (d) Normality — histogram of residuals.</a:t>
            </a:r>
            <a:endParaRPr lang="en-US" sz="1250" dirty="0"/>
          </a:p>
        </p:txBody>
      </p:sp>
      <p:sp>
        <p:nvSpPr>
          <p:cNvPr id="21" name="Shape 19"/>
          <p:cNvSpPr/>
          <p:nvPr/>
        </p:nvSpPr>
        <p:spPr>
          <a:xfrm>
            <a:off x="384048" y="3566160"/>
            <a:ext cx="438912" cy="438912"/>
          </a:xfrm>
          <a:prstGeom prst="ellipse">
            <a:avLst/>
          </a:prstGeom>
          <a:solidFill>
            <a:srgbClr val="E8A020"/>
          </a:solidFill>
          <a:ln w="12700">
            <a:solidFill>
              <a:srgbClr val="E8A020"/>
            </a:solidFill>
            <a:prstDash val="solid"/>
          </a:ln>
        </p:spPr>
      </p:sp>
      <p:sp>
        <p:nvSpPr>
          <p:cNvPr id="22" name="Text 20"/>
          <p:cNvSpPr/>
          <p:nvPr/>
        </p:nvSpPr>
        <p:spPr>
          <a:xfrm>
            <a:off x="384048" y="3566160"/>
            <a:ext cx="438912" cy="43891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4</a:t>
            </a:r>
            <a:endParaRPr lang="en-US" sz="1400" dirty="0"/>
          </a:p>
        </p:txBody>
      </p:sp>
      <p:sp>
        <p:nvSpPr>
          <p:cNvPr id="23" name="Shape 21"/>
          <p:cNvSpPr/>
          <p:nvPr/>
        </p:nvSpPr>
        <p:spPr>
          <a:xfrm>
            <a:off x="589788" y="4005072"/>
            <a:ext cx="45720" cy="347472"/>
          </a:xfrm>
          <a:prstGeom prst="rect">
            <a:avLst/>
          </a:prstGeom>
          <a:solidFill>
            <a:srgbClr val="C9D6E3"/>
          </a:solidFill>
          <a:ln w="12700">
            <a:solidFill>
              <a:srgbClr val="C9D6E3"/>
            </a:solidFill>
            <a:prstDash val="solid"/>
          </a:ln>
        </p:spPr>
      </p:sp>
      <p:sp>
        <p:nvSpPr>
          <p:cNvPr id="24" name="Text 22"/>
          <p:cNvSpPr/>
          <p:nvPr/>
        </p:nvSpPr>
        <p:spPr>
          <a:xfrm>
            <a:off x="969264" y="3520440"/>
            <a:ext cx="274320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MLR Model Development</a:t>
            </a:r>
            <a:endParaRPr lang="en-US" sz="1300" dirty="0"/>
          </a:p>
        </p:txBody>
      </p:sp>
      <p:sp>
        <p:nvSpPr>
          <p:cNvPr id="25" name="Text 23"/>
          <p:cNvSpPr/>
          <p:nvPr/>
        </p:nvSpPr>
        <p:spPr>
          <a:xfrm>
            <a:off x="969264" y="3822192"/>
            <a:ext cx="7772400" cy="420624"/>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Formula: ŷ = β₀ + β₁x₁ + β₂x₂ + ε  |  Solve via Least Squares: β̂ = (XᵀX)⁻¹Xᵀy  |  Final model: AverageYield = 3044.960 + (−0.005) PlantedArea + 0.002 RiceProduction.</a:t>
            </a:r>
            <a:endParaRPr lang="en-US" sz="1250" dirty="0"/>
          </a:p>
        </p:txBody>
      </p:sp>
      <p:sp>
        <p:nvSpPr>
          <p:cNvPr id="26" name="Shape 24"/>
          <p:cNvSpPr/>
          <p:nvPr/>
        </p:nvSpPr>
        <p:spPr>
          <a:xfrm>
            <a:off x="384048" y="4389120"/>
            <a:ext cx="438912" cy="438912"/>
          </a:xfrm>
          <a:prstGeom prst="ellipse">
            <a:avLst/>
          </a:prstGeom>
          <a:solidFill>
            <a:srgbClr val="E8A020"/>
          </a:solidFill>
          <a:ln w="12700">
            <a:solidFill>
              <a:srgbClr val="E8A020"/>
            </a:solidFill>
            <a:prstDash val="solid"/>
          </a:ln>
        </p:spPr>
      </p:sp>
      <p:sp>
        <p:nvSpPr>
          <p:cNvPr id="27" name="Text 25"/>
          <p:cNvSpPr/>
          <p:nvPr/>
        </p:nvSpPr>
        <p:spPr>
          <a:xfrm>
            <a:off x="384048" y="4389120"/>
            <a:ext cx="438912" cy="438912"/>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969264" y="4343400"/>
            <a:ext cx="2743200" cy="2743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Model Evaluation</a:t>
            </a:r>
            <a:endParaRPr lang="en-US" sz="1300" dirty="0"/>
          </a:p>
        </p:txBody>
      </p:sp>
      <p:sp>
        <p:nvSpPr>
          <p:cNvPr id="29" name="Text 27"/>
          <p:cNvSpPr/>
          <p:nvPr/>
        </p:nvSpPr>
        <p:spPr>
          <a:xfrm>
            <a:off x="969264" y="4645152"/>
            <a:ext cx="7772400" cy="420624"/>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ANOVA F-test for overall significance (p &lt; 0.05). R² and Adjusted R² for goodness of fit. t-tests for individual predictor significance. Residual analysis for model diagnostics.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Expected Results &amp; Model Findings</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Shape 4"/>
          <p:cNvSpPr/>
          <p:nvPr/>
        </p:nvSpPr>
        <p:spPr>
          <a:xfrm>
            <a:off x="384048" y="960120"/>
            <a:ext cx="8412480" cy="841248"/>
          </a:xfrm>
          <a:prstGeom prst="rect">
            <a:avLst/>
          </a:prstGeom>
          <a:solidFill>
            <a:srgbClr val="1B3A5C"/>
          </a:solidFill>
          <a:ln w="12700">
            <a:solidFill>
              <a:srgbClr val="1B3A5C"/>
            </a:solidFill>
            <a:prstDash val="solid"/>
          </a:ln>
        </p:spPr>
      </p:sp>
      <p:sp>
        <p:nvSpPr>
          <p:cNvPr id="7" name="Shape 5"/>
          <p:cNvSpPr/>
          <p:nvPr/>
        </p:nvSpPr>
        <p:spPr>
          <a:xfrm>
            <a:off x="384048" y="960120"/>
            <a:ext cx="118872" cy="841248"/>
          </a:xfrm>
          <a:prstGeom prst="rect">
            <a:avLst/>
          </a:prstGeom>
          <a:solidFill>
            <a:srgbClr val="E8A020"/>
          </a:solidFill>
          <a:ln w="12700">
            <a:solidFill>
              <a:srgbClr val="E8A020"/>
            </a:solidFill>
            <a:prstDash val="solid"/>
          </a:ln>
        </p:spPr>
      </p:sp>
      <p:sp>
        <p:nvSpPr>
          <p:cNvPr id="8" name="Text 6"/>
          <p:cNvSpPr/>
          <p:nvPr/>
        </p:nvSpPr>
        <p:spPr>
          <a:xfrm>
            <a:off x="658368" y="960120"/>
            <a:ext cx="8046720" cy="8412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Expected MLR Model:   ŷ = 3044.960 + (−0.005) PlantedArea + 0.002 RiceProduction</a:t>
            </a:r>
            <a:endParaRPr lang="en-US" sz="1400" dirty="0"/>
          </a:p>
        </p:txBody>
      </p:sp>
      <p:sp>
        <p:nvSpPr>
          <p:cNvPr id="9" name="Shape 7"/>
          <p:cNvSpPr/>
          <p:nvPr/>
        </p:nvSpPr>
        <p:spPr>
          <a:xfrm>
            <a:off x="384048" y="1993392"/>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0" name="Shape 8"/>
          <p:cNvSpPr/>
          <p:nvPr/>
        </p:nvSpPr>
        <p:spPr>
          <a:xfrm>
            <a:off x="384048" y="1993392"/>
            <a:ext cx="4114800" cy="64008"/>
          </a:xfrm>
          <a:prstGeom prst="rect">
            <a:avLst/>
          </a:prstGeom>
          <a:solidFill>
            <a:srgbClr val="1B3A5C"/>
          </a:solidFill>
          <a:ln w="12700">
            <a:solidFill>
              <a:srgbClr val="1B3A5C"/>
            </a:solidFill>
            <a:prstDash val="solid"/>
          </a:ln>
        </p:spPr>
      </p:sp>
      <p:sp>
        <p:nvSpPr>
          <p:cNvPr id="11" name="Text 9"/>
          <p:cNvSpPr/>
          <p:nvPr/>
        </p:nvSpPr>
        <p:spPr>
          <a:xfrm>
            <a:off x="521208" y="2103120"/>
            <a:ext cx="3657600" cy="256032"/>
          </a:xfrm>
          <a:prstGeom prst="rect">
            <a:avLst/>
          </a:prstGeom>
          <a:noFill/>
          <a:ln/>
        </p:spPr>
        <p:txBody>
          <a:bodyPr wrap="square" rtlCol="0" anchor="ctr"/>
          <a:lstStyle/>
          <a:p>
            <a:pPr marL="0" indent="0">
              <a:buNone/>
            </a:pPr>
            <a:r>
              <a:rPr lang="en-US" sz="1100" b="1" dirty="0">
                <a:solidFill>
                  <a:srgbClr val="5A6E80"/>
                </a:solidFill>
                <a:latin typeface="Calibri" pitchFamily="34" charset="0"/>
                <a:ea typeface="Calibri" pitchFamily="34" charset="-122"/>
                <a:cs typeface="Calibri" pitchFamily="34" charset="-120"/>
              </a:rPr>
              <a:t>R²</a:t>
            </a:r>
            <a:endParaRPr lang="en-US" sz="1100" dirty="0"/>
          </a:p>
        </p:txBody>
      </p:sp>
      <p:sp>
        <p:nvSpPr>
          <p:cNvPr id="12" name="Text 10"/>
          <p:cNvSpPr/>
          <p:nvPr/>
        </p:nvSpPr>
        <p:spPr>
          <a:xfrm>
            <a:off x="521208" y="2377440"/>
            <a:ext cx="3657600" cy="50292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 0.999</a:t>
            </a:r>
            <a:endParaRPr lang="en-US" sz="2600" dirty="0"/>
          </a:p>
        </p:txBody>
      </p:sp>
      <p:sp>
        <p:nvSpPr>
          <p:cNvPr id="13" name="Text 11"/>
          <p:cNvSpPr/>
          <p:nvPr/>
        </p:nvSpPr>
        <p:spPr>
          <a:xfrm>
            <a:off x="521208" y="2907792"/>
            <a:ext cx="3840480" cy="320040"/>
          </a:xfrm>
          <a:prstGeom prst="rect">
            <a:avLst/>
          </a:prstGeom>
          <a:noFill/>
          <a:ln/>
        </p:spPr>
        <p:txBody>
          <a:bodyPr wrap="square" rtlCol="0" anchor="ctr"/>
          <a:lstStyle/>
          <a:p>
            <a:pPr marL="0" indent="0">
              <a:buNone/>
            </a:pPr>
            <a:r>
              <a:rPr lang="en-US" sz="1100" dirty="0">
                <a:solidFill>
                  <a:srgbClr val="5A6E80"/>
                </a:solidFill>
                <a:latin typeface="Calibri" pitchFamily="34" charset="0"/>
                <a:ea typeface="Calibri" pitchFamily="34" charset="-122"/>
                <a:cs typeface="Calibri" pitchFamily="34" charset="-120"/>
              </a:rPr>
              <a:t>Model expected to explain ~99.9% of variation in average crop yield</a:t>
            </a:r>
            <a:endParaRPr lang="en-US" sz="1100" dirty="0"/>
          </a:p>
        </p:txBody>
      </p:sp>
      <p:sp>
        <p:nvSpPr>
          <p:cNvPr id="14" name="Shape 12"/>
          <p:cNvSpPr/>
          <p:nvPr/>
        </p:nvSpPr>
        <p:spPr>
          <a:xfrm>
            <a:off x="4773168" y="1993392"/>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15" name="Shape 13"/>
          <p:cNvSpPr/>
          <p:nvPr/>
        </p:nvSpPr>
        <p:spPr>
          <a:xfrm>
            <a:off x="4773168" y="1993392"/>
            <a:ext cx="4114800" cy="64008"/>
          </a:xfrm>
          <a:prstGeom prst="rect">
            <a:avLst/>
          </a:prstGeom>
          <a:solidFill>
            <a:srgbClr val="E8A020"/>
          </a:solidFill>
          <a:ln w="12700">
            <a:solidFill>
              <a:srgbClr val="E8A020"/>
            </a:solidFill>
            <a:prstDash val="solid"/>
          </a:ln>
        </p:spPr>
      </p:sp>
      <p:sp>
        <p:nvSpPr>
          <p:cNvPr id="16" name="Text 14"/>
          <p:cNvSpPr/>
          <p:nvPr/>
        </p:nvSpPr>
        <p:spPr>
          <a:xfrm>
            <a:off x="4910328" y="2103120"/>
            <a:ext cx="3657600" cy="256032"/>
          </a:xfrm>
          <a:prstGeom prst="rect">
            <a:avLst/>
          </a:prstGeom>
          <a:noFill/>
          <a:ln/>
        </p:spPr>
        <p:txBody>
          <a:bodyPr wrap="square" rtlCol="0" anchor="ctr"/>
          <a:lstStyle/>
          <a:p>
            <a:pPr marL="0" indent="0">
              <a:buNone/>
            </a:pPr>
            <a:r>
              <a:rPr lang="en-US" sz="1100" b="1" dirty="0">
                <a:solidFill>
                  <a:srgbClr val="5A6E80"/>
                </a:solidFill>
                <a:latin typeface="Calibri" pitchFamily="34" charset="0"/>
                <a:ea typeface="Calibri" pitchFamily="34" charset="-122"/>
                <a:cs typeface="Calibri" pitchFamily="34" charset="-120"/>
              </a:rPr>
              <a:t>F-stat</a:t>
            </a:r>
            <a:endParaRPr lang="en-US" sz="1100" dirty="0"/>
          </a:p>
        </p:txBody>
      </p:sp>
      <p:sp>
        <p:nvSpPr>
          <p:cNvPr id="17" name="Text 15"/>
          <p:cNvSpPr/>
          <p:nvPr/>
        </p:nvSpPr>
        <p:spPr>
          <a:xfrm>
            <a:off x="4910328" y="2377440"/>
            <a:ext cx="3657600" cy="50292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 19,521</a:t>
            </a:r>
            <a:endParaRPr lang="en-US" sz="2600" dirty="0"/>
          </a:p>
        </p:txBody>
      </p:sp>
      <p:sp>
        <p:nvSpPr>
          <p:cNvPr id="18" name="Text 16"/>
          <p:cNvSpPr/>
          <p:nvPr/>
        </p:nvSpPr>
        <p:spPr>
          <a:xfrm>
            <a:off x="4910328" y="2907792"/>
            <a:ext cx="3840480" cy="320040"/>
          </a:xfrm>
          <a:prstGeom prst="rect">
            <a:avLst/>
          </a:prstGeom>
          <a:noFill/>
          <a:ln/>
        </p:spPr>
        <p:txBody>
          <a:bodyPr wrap="square" rtlCol="0" anchor="ctr"/>
          <a:lstStyle/>
          <a:p>
            <a:pPr marL="0" indent="0">
              <a:buNone/>
            </a:pPr>
            <a:r>
              <a:rPr lang="en-US" sz="1100" dirty="0">
                <a:solidFill>
                  <a:srgbClr val="5A6E80"/>
                </a:solidFill>
                <a:latin typeface="Calibri" pitchFamily="34" charset="0"/>
                <a:ea typeface="Calibri" pitchFamily="34" charset="-122"/>
                <a:cs typeface="Calibri" pitchFamily="34" charset="-120"/>
              </a:rPr>
              <a:t>ANOVA p-value &lt; 0.000 — highly significant overall model fit</a:t>
            </a:r>
            <a:endParaRPr lang="en-US" sz="1100" dirty="0"/>
          </a:p>
        </p:txBody>
      </p:sp>
      <p:sp>
        <p:nvSpPr>
          <p:cNvPr id="19" name="Shape 17"/>
          <p:cNvSpPr/>
          <p:nvPr/>
        </p:nvSpPr>
        <p:spPr>
          <a:xfrm>
            <a:off x="384048" y="3474720"/>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20" name="Shape 18"/>
          <p:cNvSpPr/>
          <p:nvPr/>
        </p:nvSpPr>
        <p:spPr>
          <a:xfrm>
            <a:off x="384048" y="3474720"/>
            <a:ext cx="4114800" cy="64008"/>
          </a:xfrm>
          <a:prstGeom prst="rect">
            <a:avLst/>
          </a:prstGeom>
          <a:solidFill>
            <a:srgbClr val="D4691E"/>
          </a:solidFill>
          <a:ln w="12700">
            <a:solidFill>
              <a:srgbClr val="D4691E"/>
            </a:solidFill>
            <a:prstDash val="solid"/>
          </a:ln>
        </p:spPr>
      </p:sp>
      <p:sp>
        <p:nvSpPr>
          <p:cNvPr id="21" name="Text 19"/>
          <p:cNvSpPr/>
          <p:nvPr/>
        </p:nvSpPr>
        <p:spPr>
          <a:xfrm>
            <a:off x="521208" y="3584448"/>
            <a:ext cx="3657600" cy="256032"/>
          </a:xfrm>
          <a:prstGeom prst="rect">
            <a:avLst/>
          </a:prstGeom>
          <a:noFill/>
          <a:ln/>
        </p:spPr>
        <p:txBody>
          <a:bodyPr wrap="square" rtlCol="0" anchor="ctr"/>
          <a:lstStyle/>
          <a:p>
            <a:pPr marL="0" indent="0">
              <a:buNone/>
            </a:pPr>
            <a:r>
              <a:rPr lang="en-US" sz="1100" b="1" dirty="0">
                <a:solidFill>
                  <a:srgbClr val="5A6E80"/>
                </a:solidFill>
                <a:latin typeface="Calibri" pitchFamily="34" charset="0"/>
                <a:ea typeface="Calibri" pitchFamily="34" charset="-122"/>
                <a:cs typeface="Calibri" pitchFamily="34" charset="-120"/>
              </a:rPr>
              <a:t>VIF</a:t>
            </a:r>
            <a:endParaRPr lang="en-US" sz="1100" dirty="0"/>
          </a:p>
        </p:txBody>
      </p:sp>
      <p:sp>
        <p:nvSpPr>
          <p:cNvPr id="22" name="Text 20"/>
          <p:cNvSpPr/>
          <p:nvPr/>
        </p:nvSpPr>
        <p:spPr>
          <a:xfrm>
            <a:off x="521208" y="3858768"/>
            <a:ext cx="3657600" cy="50292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1.106</a:t>
            </a:r>
            <a:endParaRPr lang="en-US" sz="2600" dirty="0"/>
          </a:p>
        </p:txBody>
      </p:sp>
      <p:sp>
        <p:nvSpPr>
          <p:cNvPr id="23" name="Text 21"/>
          <p:cNvSpPr/>
          <p:nvPr/>
        </p:nvSpPr>
        <p:spPr>
          <a:xfrm>
            <a:off x="521208" y="4389120"/>
            <a:ext cx="3840480" cy="320040"/>
          </a:xfrm>
          <a:prstGeom prst="rect">
            <a:avLst/>
          </a:prstGeom>
          <a:noFill/>
          <a:ln/>
        </p:spPr>
        <p:txBody>
          <a:bodyPr wrap="square" rtlCol="0" anchor="ctr"/>
          <a:lstStyle/>
          <a:p>
            <a:pPr marL="0" indent="0">
              <a:buNone/>
            </a:pPr>
            <a:r>
              <a:rPr lang="en-US" sz="1100" dirty="0">
                <a:solidFill>
                  <a:srgbClr val="5A6E80"/>
                </a:solidFill>
                <a:latin typeface="Calibri" pitchFamily="34" charset="0"/>
                <a:ea typeface="Calibri" pitchFamily="34" charset="-122"/>
                <a:cs typeface="Calibri" pitchFamily="34" charset="-120"/>
              </a:rPr>
              <a:t>No multicollinearity — both predictors independently contribute to model</a:t>
            </a:r>
            <a:endParaRPr lang="en-US" sz="1100" dirty="0"/>
          </a:p>
        </p:txBody>
      </p:sp>
      <p:sp>
        <p:nvSpPr>
          <p:cNvPr id="24" name="Shape 22"/>
          <p:cNvSpPr/>
          <p:nvPr/>
        </p:nvSpPr>
        <p:spPr>
          <a:xfrm>
            <a:off x="4773168" y="3474720"/>
            <a:ext cx="4114800" cy="1298448"/>
          </a:xfrm>
          <a:prstGeom prst="rect">
            <a:avLst/>
          </a:prstGeom>
          <a:solidFill>
            <a:srgbClr val="FFFFFF"/>
          </a:solidFill>
          <a:ln w="12700">
            <a:solidFill>
              <a:srgbClr val="C9D6E3"/>
            </a:solidFill>
            <a:prstDash val="solid"/>
          </a:ln>
          <a:effectLst>
            <a:outerShdw blurRad="63500" dist="25400" dir="8100000" algn="bl" rotWithShape="0">
              <a:srgbClr val="000000">
                <a:alpha val="10000"/>
              </a:srgbClr>
            </a:outerShdw>
          </a:effectLst>
        </p:spPr>
      </p:sp>
      <p:sp>
        <p:nvSpPr>
          <p:cNvPr id="25" name="Shape 23"/>
          <p:cNvSpPr/>
          <p:nvPr/>
        </p:nvSpPr>
        <p:spPr>
          <a:xfrm>
            <a:off x="4773168" y="3474720"/>
            <a:ext cx="4114800" cy="64008"/>
          </a:xfrm>
          <a:prstGeom prst="rect">
            <a:avLst/>
          </a:prstGeom>
          <a:solidFill>
            <a:srgbClr val="1B3A5C"/>
          </a:solidFill>
          <a:ln w="12700">
            <a:solidFill>
              <a:srgbClr val="1B3A5C"/>
            </a:solidFill>
            <a:prstDash val="solid"/>
          </a:ln>
        </p:spPr>
      </p:sp>
      <p:sp>
        <p:nvSpPr>
          <p:cNvPr id="26" name="Text 24"/>
          <p:cNvSpPr/>
          <p:nvPr/>
        </p:nvSpPr>
        <p:spPr>
          <a:xfrm>
            <a:off x="4910328" y="3584448"/>
            <a:ext cx="3657600" cy="256032"/>
          </a:xfrm>
          <a:prstGeom prst="rect">
            <a:avLst/>
          </a:prstGeom>
          <a:noFill/>
          <a:ln/>
        </p:spPr>
        <p:txBody>
          <a:bodyPr wrap="square" rtlCol="0" anchor="ctr"/>
          <a:lstStyle/>
          <a:p>
            <a:pPr marL="0" indent="0">
              <a:buNone/>
            </a:pPr>
            <a:r>
              <a:rPr lang="en-US" sz="1100" b="1" dirty="0">
                <a:solidFill>
                  <a:srgbClr val="5A6E80"/>
                </a:solidFill>
                <a:latin typeface="Calibri" pitchFamily="34" charset="0"/>
                <a:ea typeface="Calibri" pitchFamily="34" charset="-122"/>
                <a:cs typeface="Calibri" pitchFamily="34" charset="-120"/>
              </a:rPr>
              <a:t>p-value</a:t>
            </a:r>
            <a:endParaRPr lang="en-US" sz="1100" dirty="0"/>
          </a:p>
        </p:txBody>
      </p:sp>
      <p:sp>
        <p:nvSpPr>
          <p:cNvPr id="27" name="Text 25"/>
          <p:cNvSpPr/>
          <p:nvPr/>
        </p:nvSpPr>
        <p:spPr>
          <a:xfrm>
            <a:off x="4910328" y="3858768"/>
            <a:ext cx="3657600" cy="50292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&lt; 0.05</a:t>
            </a:r>
            <a:endParaRPr lang="en-US" sz="2600" dirty="0"/>
          </a:p>
        </p:txBody>
      </p:sp>
      <p:sp>
        <p:nvSpPr>
          <p:cNvPr id="28" name="Text 26"/>
          <p:cNvSpPr/>
          <p:nvPr/>
        </p:nvSpPr>
        <p:spPr>
          <a:xfrm>
            <a:off x="4910328" y="4389120"/>
            <a:ext cx="3840480" cy="320040"/>
          </a:xfrm>
          <a:prstGeom prst="rect">
            <a:avLst/>
          </a:prstGeom>
          <a:noFill/>
          <a:ln/>
        </p:spPr>
        <p:txBody>
          <a:bodyPr wrap="square" rtlCol="0" anchor="ctr"/>
          <a:lstStyle/>
          <a:p>
            <a:pPr marL="0" indent="0">
              <a:buNone/>
            </a:pPr>
            <a:r>
              <a:rPr lang="en-US" sz="1100" dirty="0">
                <a:solidFill>
                  <a:srgbClr val="5A6E80"/>
                </a:solidFill>
                <a:latin typeface="Calibri" pitchFamily="34" charset="0"/>
                <a:ea typeface="Calibri" pitchFamily="34" charset="-122"/>
                <a:cs typeface="Calibri" pitchFamily="34" charset="-120"/>
              </a:rPr>
              <a:t>Planted area and rice production are statistically significant predictors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020"/>
          </a:solidFill>
          <a:ln w="12700">
            <a:solidFill>
              <a:srgbClr val="E8A020"/>
            </a:solidFill>
            <a:prstDash val="solid"/>
          </a:ln>
        </p:spPr>
      </p:sp>
      <p:sp>
        <p:nvSpPr>
          <p:cNvPr id="3" name="Text 1"/>
          <p:cNvSpPr/>
          <p:nvPr/>
        </p:nvSpPr>
        <p:spPr>
          <a:xfrm>
            <a:off x="457200" y="164592"/>
            <a:ext cx="8229600" cy="658368"/>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365760" y="1005840"/>
            <a:ext cx="8412480" cy="685800"/>
          </a:xfrm>
          <a:prstGeom prst="rect">
            <a:avLst/>
          </a:prstGeom>
          <a:solidFill>
            <a:srgbClr val="1B3A5C"/>
          </a:solidFill>
          <a:ln w="6350">
            <a:solidFill>
              <a:srgbClr val="C9D6E3"/>
            </a:solidFill>
            <a:prstDash val="solid"/>
          </a:ln>
        </p:spPr>
      </p:sp>
      <p:sp>
        <p:nvSpPr>
          <p:cNvPr id="5" name="Shape 3"/>
          <p:cNvSpPr/>
          <p:nvPr/>
        </p:nvSpPr>
        <p:spPr>
          <a:xfrm>
            <a:off x="365760" y="1005840"/>
            <a:ext cx="118872" cy="685800"/>
          </a:xfrm>
          <a:prstGeom prst="rect">
            <a:avLst/>
          </a:prstGeom>
          <a:solidFill>
            <a:srgbClr val="E8A020"/>
          </a:solidFill>
          <a:ln w="12700">
            <a:solidFill>
              <a:srgbClr val="E8A020"/>
            </a:solidFill>
            <a:prstDash val="solid"/>
          </a:ln>
        </p:spPr>
      </p:sp>
      <p:sp>
        <p:nvSpPr>
          <p:cNvPr id="6" name="Text 4"/>
          <p:cNvSpPr/>
          <p:nvPr/>
        </p:nvSpPr>
        <p:spPr>
          <a:xfrm>
            <a:off x="594360" y="1097280"/>
            <a:ext cx="1828800" cy="502920"/>
          </a:xfrm>
          <a:prstGeom prst="rect">
            <a:avLst/>
          </a:prstGeom>
          <a:noFill/>
          <a:ln/>
        </p:spPr>
        <p:txBody>
          <a:bodyPr wrap="square" rtlCol="0" anchor="ctr"/>
          <a:lstStyle/>
          <a:p>
            <a:pPr marL="0" indent="0">
              <a:buNone/>
            </a:pPr>
            <a:r>
              <a:rPr lang="en-US" sz="1200" b="1" dirty="0">
                <a:solidFill>
                  <a:srgbClr val="E8A020"/>
                </a:solidFill>
                <a:latin typeface="Calibri" pitchFamily="34" charset="0"/>
                <a:ea typeface="Calibri" pitchFamily="34" charset="-122"/>
                <a:cs typeface="Calibri" pitchFamily="34" charset="-120"/>
              </a:rPr>
              <a:t>Core Finding:</a:t>
            </a:r>
            <a:endParaRPr lang="en-US" sz="1200" dirty="0"/>
          </a:p>
        </p:txBody>
      </p:sp>
      <p:sp>
        <p:nvSpPr>
          <p:cNvPr id="7" name="Text 5"/>
          <p:cNvSpPr/>
          <p:nvPr/>
        </p:nvSpPr>
        <p:spPr>
          <a:xfrm>
            <a:off x="2468880" y="1097280"/>
            <a:ext cx="612648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Planted area and rice production are statistically significant predictors of average crop yield (p &lt; 0.05), forming a reliable basis for harvest timing prediction.</a:t>
            </a:r>
            <a:endParaRPr lang="en-US" sz="1250" dirty="0"/>
          </a:p>
        </p:txBody>
      </p:sp>
      <p:sp>
        <p:nvSpPr>
          <p:cNvPr id="8" name="Shape 6"/>
          <p:cNvSpPr/>
          <p:nvPr/>
        </p:nvSpPr>
        <p:spPr>
          <a:xfrm>
            <a:off x="365760" y="1810512"/>
            <a:ext cx="8412480" cy="685800"/>
          </a:xfrm>
          <a:prstGeom prst="rect">
            <a:avLst/>
          </a:prstGeom>
          <a:solidFill>
            <a:srgbClr val="1B3A5C"/>
          </a:solidFill>
          <a:ln w="6350">
            <a:solidFill>
              <a:srgbClr val="C9D6E3"/>
            </a:solidFill>
            <a:prstDash val="solid"/>
          </a:ln>
        </p:spPr>
      </p:sp>
      <p:sp>
        <p:nvSpPr>
          <p:cNvPr id="9" name="Shape 7"/>
          <p:cNvSpPr/>
          <p:nvPr/>
        </p:nvSpPr>
        <p:spPr>
          <a:xfrm>
            <a:off x="365760" y="1810512"/>
            <a:ext cx="118872" cy="685800"/>
          </a:xfrm>
          <a:prstGeom prst="rect">
            <a:avLst/>
          </a:prstGeom>
          <a:solidFill>
            <a:srgbClr val="E8A020"/>
          </a:solidFill>
          <a:ln w="12700">
            <a:solidFill>
              <a:srgbClr val="E8A020"/>
            </a:solidFill>
            <a:prstDash val="solid"/>
          </a:ln>
        </p:spPr>
      </p:sp>
      <p:sp>
        <p:nvSpPr>
          <p:cNvPr id="10" name="Text 8"/>
          <p:cNvSpPr/>
          <p:nvPr/>
        </p:nvSpPr>
        <p:spPr>
          <a:xfrm>
            <a:off x="594360" y="1901952"/>
            <a:ext cx="1828800" cy="502920"/>
          </a:xfrm>
          <a:prstGeom prst="rect">
            <a:avLst/>
          </a:prstGeom>
          <a:noFill/>
          <a:ln/>
        </p:spPr>
        <p:txBody>
          <a:bodyPr wrap="square" rtlCol="0" anchor="ctr"/>
          <a:lstStyle/>
          <a:p>
            <a:pPr marL="0" indent="0">
              <a:buNone/>
            </a:pPr>
            <a:r>
              <a:rPr lang="en-US" sz="1200" b="1" dirty="0">
                <a:solidFill>
                  <a:srgbClr val="E8A020"/>
                </a:solidFill>
                <a:latin typeface="Calibri" pitchFamily="34" charset="0"/>
                <a:ea typeface="Calibri" pitchFamily="34" charset="-122"/>
                <a:cs typeface="Calibri" pitchFamily="34" charset="-120"/>
              </a:rPr>
              <a:t>Model Performance:</a:t>
            </a:r>
            <a:endParaRPr lang="en-US" sz="1200" dirty="0"/>
          </a:p>
        </p:txBody>
      </p:sp>
      <p:sp>
        <p:nvSpPr>
          <p:cNvPr id="11" name="Text 9"/>
          <p:cNvSpPr/>
          <p:nvPr/>
        </p:nvSpPr>
        <p:spPr>
          <a:xfrm>
            <a:off x="2468880" y="1901952"/>
            <a:ext cx="612648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MLR model achieves R² ≈ 0.999, explaining 99.9% of yield variation, an excellent fit confirming the predictive power of the chosen variables.</a:t>
            </a:r>
            <a:endParaRPr lang="en-US" sz="1250" dirty="0"/>
          </a:p>
        </p:txBody>
      </p:sp>
      <p:sp>
        <p:nvSpPr>
          <p:cNvPr id="12" name="Shape 10"/>
          <p:cNvSpPr/>
          <p:nvPr/>
        </p:nvSpPr>
        <p:spPr>
          <a:xfrm>
            <a:off x="365760" y="2615184"/>
            <a:ext cx="8412480" cy="685800"/>
          </a:xfrm>
          <a:prstGeom prst="rect">
            <a:avLst/>
          </a:prstGeom>
          <a:solidFill>
            <a:srgbClr val="1B3A5C"/>
          </a:solidFill>
          <a:ln w="6350">
            <a:solidFill>
              <a:srgbClr val="C9D6E3"/>
            </a:solidFill>
            <a:prstDash val="solid"/>
          </a:ln>
        </p:spPr>
      </p:sp>
      <p:sp>
        <p:nvSpPr>
          <p:cNvPr id="13" name="Shape 11"/>
          <p:cNvSpPr/>
          <p:nvPr/>
        </p:nvSpPr>
        <p:spPr>
          <a:xfrm>
            <a:off x="365760" y="2615184"/>
            <a:ext cx="118872" cy="685800"/>
          </a:xfrm>
          <a:prstGeom prst="rect">
            <a:avLst/>
          </a:prstGeom>
          <a:solidFill>
            <a:srgbClr val="E8A020"/>
          </a:solidFill>
          <a:ln w="12700">
            <a:solidFill>
              <a:srgbClr val="E8A020"/>
            </a:solidFill>
            <a:prstDash val="solid"/>
          </a:ln>
        </p:spPr>
      </p:sp>
      <p:sp>
        <p:nvSpPr>
          <p:cNvPr id="14" name="Text 12"/>
          <p:cNvSpPr/>
          <p:nvPr/>
        </p:nvSpPr>
        <p:spPr>
          <a:xfrm>
            <a:off x="594360" y="2706624"/>
            <a:ext cx="1828800" cy="502920"/>
          </a:xfrm>
          <a:prstGeom prst="rect">
            <a:avLst/>
          </a:prstGeom>
          <a:noFill/>
          <a:ln/>
        </p:spPr>
        <p:txBody>
          <a:bodyPr wrap="square" rtlCol="0" anchor="ctr"/>
          <a:lstStyle/>
          <a:p>
            <a:pPr marL="0" indent="0">
              <a:buNone/>
            </a:pPr>
            <a:r>
              <a:rPr lang="en-US" sz="1200" b="1" dirty="0">
                <a:solidFill>
                  <a:srgbClr val="E8A020"/>
                </a:solidFill>
                <a:latin typeface="Calibri" pitchFamily="34" charset="0"/>
                <a:ea typeface="Calibri" pitchFamily="34" charset="-122"/>
                <a:cs typeface="Calibri" pitchFamily="34" charset="-120"/>
              </a:rPr>
              <a:t>Practical Impact:</a:t>
            </a:r>
            <a:endParaRPr lang="en-US" sz="1200" dirty="0"/>
          </a:p>
        </p:txBody>
      </p:sp>
      <p:sp>
        <p:nvSpPr>
          <p:cNvPr id="15" name="Text 13"/>
          <p:cNvSpPr/>
          <p:nvPr/>
        </p:nvSpPr>
        <p:spPr>
          <a:xfrm>
            <a:off x="2468880" y="2706624"/>
            <a:ext cx="612648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 validated MLR model empowers farmers, agricultural officers, and policymakers with a data driven, interpretable tool to optimize harvest decisions and reduce crop losses.</a:t>
            </a:r>
            <a:endParaRPr lang="en-US" sz="1250" dirty="0"/>
          </a:p>
        </p:txBody>
      </p:sp>
      <p:sp>
        <p:nvSpPr>
          <p:cNvPr id="16" name="Shape 14"/>
          <p:cNvSpPr/>
          <p:nvPr/>
        </p:nvSpPr>
        <p:spPr>
          <a:xfrm>
            <a:off x="365760" y="3419856"/>
            <a:ext cx="8412480" cy="685800"/>
          </a:xfrm>
          <a:prstGeom prst="rect">
            <a:avLst/>
          </a:prstGeom>
          <a:solidFill>
            <a:srgbClr val="1B3A5C"/>
          </a:solidFill>
          <a:ln w="6350">
            <a:solidFill>
              <a:srgbClr val="C9D6E3"/>
            </a:solidFill>
            <a:prstDash val="solid"/>
          </a:ln>
        </p:spPr>
      </p:sp>
      <p:sp>
        <p:nvSpPr>
          <p:cNvPr id="17" name="Shape 15"/>
          <p:cNvSpPr/>
          <p:nvPr/>
        </p:nvSpPr>
        <p:spPr>
          <a:xfrm>
            <a:off x="365760" y="3419856"/>
            <a:ext cx="118872" cy="685800"/>
          </a:xfrm>
          <a:prstGeom prst="rect">
            <a:avLst/>
          </a:prstGeom>
          <a:solidFill>
            <a:srgbClr val="E8A020"/>
          </a:solidFill>
          <a:ln w="12700">
            <a:solidFill>
              <a:srgbClr val="E8A020"/>
            </a:solidFill>
            <a:prstDash val="solid"/>
          </a:ln>
        </p:spPr>
      </p:sp>
      <p:sp>
        <p:nvSpPr>
          <p:cNvPr id="18" name="Text 16"/>
          <p:cNvSpPr/>
          <p:nvPr/>
        </p:nvSpPr>
        <p:spPr>
          <a:xfrm>
            <a:off x="594360" y="3511296"/>
            <a:ext cx="1828800" cy="502920"/>
          </a:xfrm>
          <a:prstGeom prst="rect">
            <a:avLst/>
          </a:prstGeom>
          <a:noFill/>
          <a:ln/>
        </p:spPr>
        <p:txBody>
          <a:bodyPr wrap="square" rtlCol="0" anchor="ctr"/>
          <a:lstStyle/>
          <a:p>
            <a:pPr marL="0" indent="0">
              <a:buNone/>
            </a:pPr>
            <a:r>
              <a:rPr lang="en-US" sz="1200" b="1" dirty="0">
                <a:solidFill>
                  <a:srgbClr val="E8A020"/>
                </a:solidFill>
                <a:latin typeface="Calibri" pitchFamily="34" charset="0"/>
                <a:ea typeface="Calibri" pitchFamily="34" charset="-122"/>
                <a:cs typeface="Calibri" pitchFamily="34" charset="-120"/>
              </a:rPr>
              <a:t>Policy Relevance:</a:t>
            </a:r>
            <a:endParaRPr lang="en-US" sz="1200" dirty="0"/>
          </a:p>
        </p:txBody>
      </p:sp>
      <p:sp>
        <p:nvSpPr>
          <p:cNvPr id="19" name="Text 17"/>
          <p:cNvSpPr/>
          <p:nvPr/>
        </p:nvSpPr>
        <p:spPr>
          <a:xfrm>
            <a:off x="2468880" y="3511296"/>
            <a:ext cx="612648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Findings support government food security initiatives by providing a replicable modelling framework applicable to Nigerian and African agricultural contexts.</a:t>
            </a:r>
            <a:endParaRPr lang="en-US" sz="1250" dirty="0"/>
          </a:p>
        </p:txBody>
      </p:sp>
      <p:sp>
        <p:nvSpPr>
          <p:cNvPr id="20" name="Shape 18"/>
          <p:cNvSpPr/>
          <p:nvPr/>
        </p:nvSpPr>
        <p:spPr>
          <a:xfrm>
            <a:off x="365760" y="4224528"/>
            <a:ext cx="8412480" cy="685800"/>
          </a:xfrm>
          <a:prstGeom prst="rect">
            <a:avLst/>
          </a:prstGeom>
          <a:solidFill>
            <a:srgbClr val="1B3A5C"/>
          </a:solidFill>
          <a:ln w="6350">
            <a:solidFill>
              <a:srgbClr val="C9D6E3"/>
            </a:solidFill>
            <a:prstDash val="solid"/>
          </a:ln>
        </p:spPr>
      </p:sp>
      <p:sp>
        <p:nvSpPr>
          <p:cNvPr id="21" name="Shape 19"/>
          <p:cNvSpPr/>
          <p:nvPr/>
        </p:nvSpPr>
        <p:spPr>
          <a:xfrm>
            <a:off x="365760" y="4224528"/>
            <a:ext cx="118872" cy="685800"/>
          </a:xfrm>
          <a:prstGeom prst="rect">
            <a:avLst/>
          </a:prstGeom>
          <a:solidFill>
            <a:srgbClr val="E8A020"/>
          </a:solidFill>
          <a:ln w="12700">
            <a:solidFill>
              <a:srgbClr val="E8A020"/>
            </a:solidFill>
            <a:prstDash val="solid"/>
          </a:ln>
        </p:spPr>
      </p:sp>
      <p:sp>
        <p:nvSpPr>
          <p:cNvPr id="22" name="Text 20"/>
          <p:cNvSpPr/>
          <p:nvPr/>
        </p:nvSpPr>
        <p:spPr>
          <a:xfrm>
            <a:off x="594360" y="4315968"/>
            <a:ext cx="1828800" cy="502920"/>
          </a:xfrm>
          <a:prstGeom prst="rect">
            <a:avLst/>
          </a:prstGeom>
          <a:noFill/>
          <a:ln/>
        </p:spPr>
        <p:txBody>
          <a:bodyPr wrap="square" rtlCol="0" anchor="ctr"/>
          <a:lstStyle/>
          <a:p>
            <a:pPr marL="0" indent="0">
              <a:buNone/>
            </a:pPr>
            <a:r>
              <a:rPr lang="en-US" sz="1200" b="1" dirty="0">
                <a:solidFill>
                  <a:srgbClr val="E8A020"/>
                </a:solidFill>
                <a:latin typeface="Calibri" pitchFamily="34" charset="0"/>
                <a:ea typeface="Calibri" pitchFamily="34" charset="-122"/>
                <a:cs typeface="Calibri" pitchFamily="34" charset="-120"/>
              </a:rPr>
              <a:t>Future Work:</a:t>
            </a:r>
            <a:endParaRPr lang="en-US" sz="1200" dirty="0"/>
          </a:p>
        </p:txBody>
      </p:sp>
      <p:sp>
        <p:nvSpPr>
          <p:cNvPr id="23" name="Text 21"/>
          <p:cNvSpPr/>
          <p:nvPr/>
        </p:nvSpPr>
        <p:spPr>
          <a:xfrm>
            <a:off x="2468880" y="4315968"/>
            <a:ext cx="612648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Incorporate additional variables, soil quality, temperature, rainfall, pest incidence, to enhance model robustness and extend coverage to more crop types.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B3A5C"/>
          </a:solidFill>
          <a:ln w="12700">
            <a:solidFill>
              <a:srgbClr val="1B3A5C"/>
            </a:solidFill>
            <a:prstDash val="solid"/>
          </a:ln>
        </p:spPr>
      </p:sp>
      <p:sp>
        <p:nvSpPr>
          <p:cNvPr id="3" name="Shape 1"/>
          <p:cNvSpPr/>
          <p:nvPr/>
        </p:nvSpPr>
        <p:spPr>
          <a:xfrm>
            <a:off x="164592" y="0"/>
            <a:ext cx="54864" cy="5143500"/>
          </a:xfrm>
          <a:prstGeom prst="rect">
            <a:avLst/>
          </a:prstGeom>
          <a:solidFill>
            <a:srgbClr val="E8A020"/>
          </a:solidFill>
          <a:ln w="12700">
            <a:solidFill>
              <a:srgbClr val="E8A020"/>
            </a:solidFill>
            <a:prstDash val="solid"/>
          </a:ln>
        </p:spPr>
      </p:sp>
      <p:sp>
        <p:nvSpPr>
          <p:cNvPr id="4" name="Text 2"/>
          <p:cNvSpPr/>
          <p:nvPr/>
        </p:nvSpPr>
        <p:spPr>
          <a:xfrm>
            <a:off x="384048" y="201168"/>
            <a:ext cx="8412480" cy="594360"/>
          </a:xfrm>
          <a:prstGeom prst="rect">
            <a:avLst/>
          </a:prstGeom>
          <a:noFill/>
          <a:ln/>
        </p:spPr>
        <p:txBody>
          <a:bodyPr wrap="square" rtlCol="0" anchor="ctr"/>
          <a:lstStyle/>
          <a:p>
            <a:pPr marL="0" indent="0">
              <a:buNone/>
            </a:pPr>
            <a:r>
              <a:rPr lang="en-US" sz="2600" b="1" dirty="0">
                <a:solidFill>
                  <a:srgbClr val="1B3A5C"/>
                </a:solidFill>
                <a:latin typeface="Cambria" pitchFamily="34" charset="0"/>
                <a:ea typeface="Cambria" pitchFamily="34" charset="-122"/>
                <a:cs typeface="Cambria" pitchFamily="34" charset="-120"/>
              </a:rPr>
              <a:t>References</a:t>
            </a:r>
            <a:endParaRPr lang="en-US" sz="2600" dirty="0"/>
          </a:p>
        </p:txBody>
      </p:sp>
      <p:sp>
        <p:nvSpPr>
          <p:cNvPr id="5" name="Shape 3"/>
          <p:cNvSpPr/>
          <p:nvPr/>
        </p:nvSpPr>
        <p:spPr>
          <a:xfrm>
            <a:off x="384048" y="795528"/>
            <a:ext cx="1645920" cy="45720"/>
          </a:xfrm>
          <a:prstGeom prst="rect">
            <a:avLst/>
          </a:prstGeom>
          <a:solidFill>
            <a:srgbClr val="E8A020"/>
          </a:solidFill>
          <a:ln w="12700">
            <a:solidFill>
              <a:srgbClr val="E8A020"/>
            </a:solidFill>
            <a:prstDash val="solid"/>
          </a:ln>
        </p:spPr>
      </p:sp>
      <p:sp>
        <p:nvSpPr>
          <p:cNvPr id="6" name="Text 4"/>
          <p:cNvSpPr/>
          <p:nvPr/>
        </p:nvSpPr>
        <p:spPr>
          <a:xfrm>
            <a:off x="384048" y="960120"/>
            <a:ext cx="8412480" cy="3977640"/>
          </a:xfrm>
          <a:prstGeom prst="rect">
            <a:avLst/>
          </a:prstGeom>
          <a:noFill/>
          <a:ln/>
        </p:spPr>
        <p:txBody>
          <a:bodyPr wrap="square" rtlCol="0" anchor="t"/>
          <a:lstStyle/>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Abrougui, K. et al. (2019). Prediction of organic potato yield using ANN and MLR. Soil and Tillage Research, 190: 202–208.</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Bishop, C.M. et al. (1995). Neural networks for pattern recognition. Oxford University Press.</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Box, G.E. et al. (2015). Time series analysis: forecasting and control. John Wiley &amp; Sons.</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Drummond, S.T. et al. (2003). Statistical and neural methods for site specific yield prediction. Trans. ASAE, 46(1): 5.</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Ji, B. et al. (2007). ANN for rice yield prediction in mountainous regions. J. Agricultural Science, 145(3): 249–261.</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Jones, J.W. et al. (2017). Brief history of agricultural systems modeling. Agricultural Systems, 155: 240–254.</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Khaki, S. &amp; Wang, L. (2019). Crop yield prediction using deep neural networks. Frontiers in Plant Science, 10: 621.</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Panda, S.S. et al. (2010). Vegetation indices for crop yield prediction using neural networks. Remote Sensing, 2(3): 673–696.</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Selected Agricultural Indicators, Malaysia, 2021. Department of Statistics Malaysia (DOSM). www.dosm.gov.my</a:t>
            </a:r>
            <a:endParaRPr lang="en-US" sz="1150" dirty="0"/>
          </a:p>
          <a:p>
            <a:pPr marL="0" indent="0">
              <a:spcAft>
                <a:spcPts val="600"/>
              </a:spcAft>
              <a:buNone/>
            </a:pPr>
            <a:r>
              <a:rPr lang="en-US" sz="1150" dirty="0">
                <a:solidFill>
                  <a:srgbClr val="1A2B3C"/>
                </a:solidFill>
                <a:latin typeface="Calibri" pitchFamily="34" charset="0"/>
                <a:ea typeface="Calibri" pitchFamily="34" charset="-122"/>
                <a:cs typeface="Calibri" pitchFamily="34" charset="-120"/>
              </a:rPr>
              <a:t>Zhang, G. et al. (1998). Forecasting with artificial neural networks: The state of the art. Intl. J. Forecasting, 14(1): 35–62.</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1791</Words>
  <Application>Microsoft Office PowerPoint</Application>
  <PresentationFormat>On-screen Show (16:9)</PresentationFormat>
  <Paragraphs>158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Machine Learning Model to Predict the Optimum Harvest Time for Crops</dc:title>
  <dc:subject>PptxGenJS Presentation</dc:subject>
  <dc:creator>PptxGenJS</dc:creator>
  <cp:lastModifiedBy>Emmanuel Abolaji</cp:lastModifiedBy>
  <cp:revision>3</cp:revision>
  <dcterms:created xsi:type="dcterms:W3CDTF">2026-05-09T19:04:50Z</dcterms:created>
  <dcterms:modified xsi:type="dcterms:W3CDTF">2026-05-09T19:28:53Z</dcterms:modified>
</cp:coreProperties>
</file>